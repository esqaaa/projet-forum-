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3606" autoAdjust="0"/>
  </p:normalViewPr>
  <p:slideViewPr>
    <p:cSldViewPr snapToGrid="0" snapToObjects="1">
      <p:cViewPr varScale="1">
        <p:scale>
          <a:sx n="138" d="100"/>
          <a:sy n="138" d="100"/>
        </p:scale>
        <p:origin x="1162"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86709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Bonjour à tous, aujourd'hui nous allons vous présenter notre projet Forum, une application web développée en </a:t>
            </a:r>
            <a:r>
              <a:rPr lang="fr-FR" dirty="0" err="1"/>
              <a:t>Golang</a:t>
            </a:r>
            <a:r>
              <a:rPr lang="fr-FR" dirty="0"/>
              <a:t>, SQL et HTML/CSS/JS.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cette présentation, nous allons aborder trois grandes parties. </a:t>
            </a:r>
          </a:p>
          <a:p>
            <a:r>
              <a:rPr lang="fr-FR" dirty="0"/>
              <a:t>Dans un premier temps, nous vous présenterons le projet avec les technologies utilisées, l'architecture et le routage. </a:t>
            </a:r>
          </a:p>
          <a:p>
            <a:r>
              <a:rPr lang="fr-FR" dirty="0"/>
              <a:t>Ensuite, nous passerons à une démonstration des fonctionnalités, aussi bien les obligatoires que les bonus. </a:t>
            </a:r>
          </a:p>
          <a:p>
            <a:r>
              <a:rPr lang="fr-FR" dirty="0"/>
              <a:t>Et enfin, nous vous parlerons de notre organisation de travail, avec la répartition des tâches, les difficultés rencontrées et les solutions que nous avons apportées.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Commençons par la stack technique. </a:t>
            </a:r>
          </a:p>
          <a:p>
            <a:r>
              <a:rPr lang="fr-FR" dirty="0"/>
              <a:t>Pour le backend, nous avons choisi Go, plus précisément le package net/http natif, sans </a:t>
            </a:r>
            <a:r>
              <a:rPr lang="fr-FR" dirty="0" err="1"/>
              <a:t>framework</a:t>
            </a:r>
            <a:r>
              <a:rPr lang="fr-FR" dirty="0"/>
              <a:t> externe. </a:t>
            </a:r>
          </a:p>
          <a:p>
            <a:r>
              <a:rPr lang="fr-FR" dirty="0"/>
              <a:t>Le frontend est en HTML, CSS et JavaScript pur. La base de données repose sur SQL, gérée via XAMPP. </a:t>
            </a:r>
          </a:p>
          <a:p>
            <a:r>
              <a:rPr lang="fr-FR" dirty="0"/>
              <a:t>Et pour le versioning, nous avons utilisé Git et GitHub tout au long du projet.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Passons maintenant au routage de l'application. </a:t>
            </a:r>
          </a:p>
          <a:p>
            <a:r>
              <a:rPr lang="fr-FR" dirty="0"/>
              <a:t>Nous avons défini un ensemble de routes claires pour couvrir toutes les fonctionnalités. </a:t>
            </a:r>
          </a:p>
          <a:p>
            <a:r>
              <a:rPr lang="fr-FR" dirty="0"/>
              <a:t>Un GET sur "/" charge la page d'accueil avec la liste des </a:t>
            </a:r>
            <a:r>
              <a:rPr lang="fr-FR" dirty="0" err="1"/>
              <a:t>posts</a:t>
            </a:r>
            <a:r>
              <a:rPr lang="fr-FR" dirty="0"/>
              <a:t>. </a:t>
            </a:r>
          </a:p>
          <a:p>
            <a:r>
              <a:rPr lang="fr-FR" dirty="0"/>
              <a:t>Les routes /</a:t>
            </a:r>
            <a:r>
              <a:rPr lang="fr-FR" dirty="0" err="1"/>
              <a:t>register</a:t>
            </a:r>
            <a:r>
              <a:rPr lang="fr-FR" dirty="0"/>
              <a:t> et /login gèrent respectivement l'inscription et la connexion, en GET pour afficher le formulaire, en POST pour traiter les données. </a:t>
            </a:r>
          </a:p>
          <a:p>
            <a:r>
              <a:rPr lang="fr-FR" dirty="0"/>
              <a:t>La route /post/{id} permet d'afficher un post avec ses commentaires, /post/</a:t>
            </a:r>
            <a:r>
              <a:rPr lang="fr-FR" dirty="0" err="1"/>
              <a:t>create</a:t>
            </a:r>
            <a:r>
              <a:rPr lang="fr-FR" dirty="0"/>
              <a:t> de créer un nouveau post, /comment/</a:t>
            </a:r>
            <a:r>
              <a:rPr lang="fr-FR" dirty="0" err="1"/>
              <a:t>add</a:t>
            </a:r>
            <a:r>
              <a:rPr lang="fr-FR" dirty="0"/>
              <a:t> d'ajouter un commentaire, et enfin /like de gérer les likes et dislikes sur les </a:t>
            </a:r>
            <a:r>
              <a:rPr lang="fr-FR" dirty="0" err="1"/>
              <a:t>posts</a:t>
            </a:r>
            <a:r>
              <a:rPr lang="fr-FR" dirty="0"/>
              <a:t> et commentaires.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Concernant les fonctionnalités obligatoires, nous avons implémenté l'ensemble du cahier des charges. </a:t>
            </a:r>
          </a:p>
          <a:p>
            <a:r>
              <a:rPr lang="fr-FR" dirty="0"/>
              <a:t>L'authentification est complète, avec l'inscription, la connexion, la déconnexion et la gestion des sessions sécurisées. </a:t>
            </a:r>
          </a:p>
          <a:p>
            <a:r>
              <a:rPr lang="fr-FR" dirty="0"/>
              <a:t>Les utilisateurs peuvent créer des </a:t>
            </a:r>
            <a:r>
              <a:rPr lang="fr-FR" dirty="0" err="1"/>
              <a:t>posts</a:t>
            </a:r>
            <a:r>
              <a:rPr lang="fr-FR" dirty="0"/>
              <a:t>, les consulter et y répondre avec des commentaires imbriqués. </a:t>
            </a:r>
          </a:p>
          <a:p>
            <a:r>
              <a:rPr lang="fr-FR" dirty="0"/>
              <a:t>Il est également possible de liker ou disliker un post ou un commentaire, avec des compteurs mis à jour dynamiquement. </a:t>
            </a:r>
          </a:p>
          <a:p>
            <a:r>
              <a:rPr lang="fr-FR" dirty="0"/>
              <a:t>On retrouve aussi un système de filtrage par catégorie, une gestion des rôles en trois niveaux — utilisateur, modérateur et admin — et une interface responsive qui fonctionne aussi bien sur desktop que sur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En plus des fonctionnalités obligatoires, nous avons également développé plusieurs bonus. </a:t>
            </a:r>
          </a:p>
          <a:p>
            <a:r>
              <a:rPr lang="fr-FR" dirty="0"/>
              <a:t>Nous avons mis en place un système de modération complet, qui permet de bannir des utilisateurs, de supprimer ou modifier des messages, et de réaliser des actions admin en temps réel. </a:t>
            </a:r>
          </a:p>
          <a:p>
            <a:r>
              <a:rPr lang="fr-FR" dirty="0"/>
              <a:t>Chaque utilisateur dispose d'une page de profil avec l'historique de ses </a:t>
            </a:r>
            <a:r>
              <a:rPr lang="fr-FR" dirty="0" err="1"/>
              <a:t>posts</a:t>
            </a:r>
            <a:r>
              <a:rPr lang="fr-FR" dirty="0"/>
              <a:t> et de ses votes. </a:t>
            </a:r>
          </a:p>
          <a:p>
            <a:r>
              <a:rPr lang="fr-FR" dirty="0"/>
              <a:t>Il est aussi possible de publier des images dans le forum et d'avoir une photo de profil. </a:t>
            </a:r>
          </a:p>
          <a:p>
            <a:r>
              <a:rPr lang="fr-FR" dirty="0"/>
              <a:t>Et pour finir, nous avons soigné l'expérience utilisateur avec des notifications visuelles, des animations CSS et un mode sombre.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l'organisation, nous avons réparti le travail équitablement, moitié-moitié. </a:t>
            </a:r>
          </a:p>
          <a:p>
            <a:r>
              <a:rPr lang="fr-FR" dirty="0"/>
              <a:t>De mon côté, j'ai travaillé sur la création et la consultation des topics, la publication de messages, le tri, l'affichage par catégorie, la barre de recherche et la gestion de profil.</a:t>
            </a:r>
          </a:p>
          <a:p>
            <a:r>
              <a:rPr lang="fr-FR" dirty="0"/>
              <a:t> Louis a pris en charge l'inscription, la connexion, la gestion des messages et des topics, les likes et dislikes, la pagination, le </a:t>
            </a:r>
            <a:r>
              <a:rPr lang="fr-FR" dirty="0" err="1"/>
              <a:t>dashboard</a:t>
            </a:r>
            <a:r>
              <a:rPr lang="fr-FR" dirty="0"/>
              <a:t> admin et la gestion des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Comme dans tout projet en binôme, nous avons rencontré quelques difficultés. </a:t>
            </a:r>
          </a:p>
          <a:p>
            <a:r>
              <a:rPr lang="fr-FR" dirty="0"/>
              <a:t>La première, c'étaient les conflits Git. </a:t>
            </a:r>
          </a:p>
          <a:p>
            <a:r>
              <a:rPr lang="fr-FR" dirty="0"/>
              <a:t>En travaillant en parallèle sur les mêmes fichiers, on se retrouvait régulièrement avec des conflits au moment du merge. </a:t>
            </a:r>
          </a:p>
          <a:p>
            <a:r>
              <a:rPr lang="fr-FR" dirty="0"/>
              <a:t>Pour y remédier, on a mis en place des réunions de merge planifiées, une convention de nommage des branches en </a:t>
            </a:r>
            <a:r>
              <a:rPr lang="fr-FR" dirty="0" err="1"/>
              <a:t>feature</a:t>
            </a:r>
            <a:r>
              <a:rPr lang="fr-FR" dirty="0"/>
              <a:t>/, et des revues de code croisées.</a:t>
            </a:r>
          </a:p>
          <a:p>
            <a:endParaRPr lang="fr-FR" dirty="0"/>
          </a:p>
          <a:p>
            <a:r>
              <a:rPr lang="fr-FR" dirty="0"/>
              <a:t> La deuxième difficulté concernait la base de données : chacun avait sa propre base locale, ce qui entraînait des désynchronisations de schéma.</a:t>
            </a:r>
          </a:p>
          <a:p>
            <a:r>
              <a:rPr lang="fr-FR" dirty="0"/>
              <a:t> On a résolu ça en migrant vers une base commune sur XAMPP partagé, et en versionnant des scripts SQL d'initialisation.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Voilà, nous arrivons à la fin de notre présentation. </a:t>
            </a:r>
          </a:p>
          <a:p>
            <a:r>
              <a:rPr lang="fr-FR" dirty="0"/>
              <a:t>Ce projet nous a permis de mettre en pratique Go pour le backend, SQL pour la base de données, HTML/CSS/JS pour le frontend, et Git pour le travail collaboratif.</a:t>
            </a:r>
          </a:p>
          <a:p>
            <a:r>
              <a:rPr lang="fr-FR"/>
              <a:t>Nous </a:t>
            </a:r>
            <a:r>
              <a:rPr lang="fr-FR" dirty="0"/>
              <a:t>avons aussi eu la satisfaction d'aller au-delà du cahier des charges en implémentant plusieurs fonctionnalités bonus</a:t>
            </a:r>
            <a:r>
              <a:rPr lang="fr-FR"/>
              <a:t>. </a:t>
            </a:r>
          </a:p>
          <a:p>
            <a:r>
              <a:rPr lang="fr-FR"/>
              <a:t>Nous </a:t>
            </a:r>
            <a:r>
              <a:rPr lang="fr-FR" dirty="0"/>
              <a:t>vous remercions pour votre attention, et nous sommes maintenant disponibles pour répondre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6858000" y="-1097280"/>
            <a:ext cx="3657600" cy="3657600"/>
          </a:xfrm>
          <a:prstGeom prst="ellipse">
            <a:avLst/>
          </a:prstGeom>
          <a:solidFill>
            <a:srgbClr val="7C3AED">
              <a:alpha val="18000"/>
            </a:srgbClr>
          </a:solidFill>
          <a:ln w="12700">
            <a:solidFill>
              <a:srgbClr val="7C3AED">
                <a:alpha val="40000"/>
              </a:srgbClr>
            </a:solidFill>
            <a:prstDash val="solid"/>
          </a:ln>
        </p:spPr>
        <p:txBody>
          <a:bodyPr/>
          <a:lstStyle/>
          <a:p>
            <a:endParaRPr lang="fr-FR"/>
          </a:p>
        </p:txBody>
      </p:sp>
      <p:sp>
        <p:nvSpPr>
          <p:cNvPr id="3" name="Shape 1"/>
          <p:cNvSpPr/>
          <p:nvPr/>
        </p:nvSpPr>
        <p:spPr>
          <a:xfrm>
            <a:off x="-1371600" y="3200400"/>
            <a:ext cx="3200400" cy="3200400"/>
          </a:xfrm>
          <a:prstGeom prst="ellipse">
            <a:avLst/>
          </a:prstGeom>
          <a:solidFill>
            <a:srgbClr val="00C9FF">
              <a:alpha val="12000"/>
            </a:srgbClr>
          </a:solidFill>
          <a:ln w="12700">
            <a:solidFill>
              <a:srgbClr val="00C9FF">
                <a:alpha val="30000"/>
              </a:srgbClr>
            </a:solidFill>
            <a:prstDash val="solid"/>
          </a:ln>
        </p:spPr>
        <p:txBody>
          <a:bodyPr/>
          <a:lstStyle/>
          <a:p>
            <a:endParaRPr lang="fr-FR"/>
          </a:p>
        </p:txBody>
      </p:sp>
      <p:sp>
        <p:nvSpPr>
          <p:cNvPr id="4" name="Shape 2"/>
          <p:cNvSpPr/>
          <p:nvPr/>
        </p:nvSpPr>
        <p:spPr>
          <a:xfrm>
            <a:off x="502920" y="914400"/>
            <a:ext cx="2011680" cy="347472"/>
          </a:xfrm>
          <a:prstGeom prst="roundRect">
            <a:avLst>
              <a:gd name="adj" fmla="val 15789"/>
            </a:avLst>
          </a:prstGeom>
          <a:solidFill>
            <a:srgbClr val="7C3AED">
              <a:alpha val="70000"/>
            </a:srgbClr>
          </a:solidFill>
          <a:ln w="12700">
            <a:solidFill>
              <a:srgbClr val="7C3AED"/>
            </a:solidFill>
            <a:prstDash val="solid"/>
          </a:ln>
        </p:spPr>
        <p:txBody>
          <a:bodyPr/>
          <a:lstStyle/>
          <a:p>
            <a:endParaRPr lang="fr-FR"/>
          </a:p>
        </p:txBody>
      </p:sp>
      <p:sp>
        <p:nvSpPr>
          <p:cNvPr id="5" name="Text 3"/>
          <p:cNvSpPr/>
          <p:nvPr/>
        </p:nvSpPr>
        <p:spPr>
          <a:xfrm>
            <a:off x="502920" y="914400"/>
            <a:ext cx="2011680" cy="347472"/>
          </a:xfrm>
          <a:prstGeom prst="rect">
            <a:avLst/>
          </a:prstGeom>
          <a:noFill/>
          <a:ln/>
        </p:spPr>
        <p:txBody>
          <a:bodyPr wrap="square" lIns="0" tIns="0" rIns="0" bIns="0" rtlCol="0" anchor="ctr"/>
          <a:lstStyle/>
          <a:p>
            <a:pPr marL="0" indent="0" algn="ctr">
              <a:buNone/>
            </a:pPr>
            <a:r>
              <a:rPr lang="en-US" sz="900" b="1" kern="0" spc="300" dirty="0">
                <a:solidFill>
                  <a:srgbClr val="FFFFFF"/>
                </a:solidFill>
              </a:rPr>
              <a:t>PROJET FORUM</a:t>
            </a:r>
            <a:endParaRPr lang="en-US" sz="900" dirty="0"/>
          </a:p>
        </p:txBody>
      </p:sp>
      <p:sp>
        <p:nvSpPr>
          <p:cNvPr id="6" name="Text 4"/>
          <p:cNvSpPr/>
          <p:nvPr/>
        </p:nvSpPr>
        <p:spPr>
          <a:xfrm>
            <a:off x="457200" y="1417320"/>
            <a:ext cx="5486400" cy="1188720"/>
          </a:xfrm>
          <a:prstGeom prst="rect">
            <a:avLst/>
          </a:prstGeom>
          <a:noFill/>
          <a:ln/>
        </p:spPr>
        <p:txBody>
          <a:bodyPr wrap="square" lIns="0" tIns="0" rIns="0" bIns="0" rtlCol="0" anchor="ctr"/>
          <a:lstStyle/>
          <a:p>
            <a:pPr marL="0" indent="0">
              <a:buNone/>
            </a:pPr>
            <a:r>
              <a:rPr lang="en-US" sz="7200" b="1" dirty="0">
                <a:solidFill>
                  <a:srgbClr val="FFFFFF"/>
                </a:solidFill>
                <a:latin typeface="Calibri" pitchFamily="34" charset="0"/>
                <a:ea typeface="Calibri" pitchFamily="34" charset="-122"/>
                <a:cs typeface="Calibri" pitchFamily="34" charset="-120"/>
              </a:rPr>
              <a:t>Forum</a:t>
            </a:r>
            <a:endParaRPr lang="en-US" sz="7200" dirty="0"/>
          </a:p>
        </p:txBody>
      </p:sp>
      <p:sp>
        <p:nvSpPr>
          <p:cNvPr id="7" name="Text 5"/>
          <p:cNvSpPr/>
          <p:nvPr/>
        </p:nvSpPr>
        <p:spPr>
          <a:xfrm>
            <a:off x="457200" y="2377440"/>
            <a:ext cx="4572000" cy="914400"/>
          </a:xfrm>
          <a:prstGeom prst="rect">
            <a:avLst/>
          </a:prstGeom>
          <a:noFill/>
          <a:ln/>
        </p:spPr>
        <p:txBody>
          <a:bodyPr wrap="square" lIns="0" tIns="0" rIns="0" bIns="0" rtlCol="0" anchor="ctr"/>
          <a:lstStyle/>
          <a:p>
            <a:pPr marL="0" indent="0">
              <a:buNone/>
            </a:pPr>
            <a:r>
              <a:rPr lang="en-US" sz="7200" b="1" dirty="0">
                <a:solidFill>
                  <a:srgbClr val="00C9FF"/>
                </a:solidFill>
                <a:latin typeface="Calibri" pitchFamily="34" charset="0"/>
                <a:ea typeface="Calibri" pitchFamily="34" charset="-122"/>
                <a:cs typeface="Calibri" pitchFamily="34" charset="-120"/>
              </a:rPr>
              <a:t>Project</a:t>
            </a:r>
            <a:endParaRPr lang="en-US" sz="7200" dirty="0"/>
          </a:p>
        </p:txBody>
      </p:sp>
      <p:sp>
        <p:nvSpPr>
          <p:cNvPr id="8" name="Text 6"/>
          <p:cNvSpPr/>
          <p:nvPr/>
        </p:nvSpPr>
        <p:spPr>
          <a:xfrm>
            <a:off x="502920" y="3383280"/>
            <a:ext cx="6400800" cy="365760"/>
          </a:xfrm>
          <a:prstGeom prst="rect">
            <a:avLst/>
          </a:prstGeom>
          <a:noFill/>
          <a:ln/>
        </p:spPr>
        <p:txBody>
          <a:bodyPr wrap="square" lIns="0" tIns="0" rIns="0" bIns="0" rtlCol="0" anchor="ctr"/>
          <a:lstStyle/>
          <a:p>
            <a:pPr marL="0" indent="0">
              <a:buNone/>
            </a:pPr>
            <a:r>
              <a:rPr lang="en-US" sz="1300" dirty="0">
                <a:solidFill>
                  <a:srgbClr val="8B949E"/>
                </a:solidFill>
                <a:latin typeface="Calibri" pitchFamily="34" charset="0"/>
                <a:ea typeface="Calibri" pitchFamily="34" charset="-122"/>
                <a:cs typeface="Calibri" pitchFamily="34" charset="-120"/>
              </a:rPr>
              <a:t>Application web de forum — Golang · SQL · HTML/CSS/JS</a:t>
            </a:r>
            <a:endParaRPr lang="en-US" sz="1300" dirty="0"/>
          </a:p>
        </p:txBody>
      </p:sp>
      <p:sp>
        <p:nvSpPr>
          <p:cNvPr id="9" name="Shape 7"/>
          <p:cNvSpPr/>
          <p:nvPr/>
        </p:nvSpPr>
        <p:spPr>
          <a:xfrm>
            <a:off x="502920" y="3886200"/>
            <a:ext cx="3657600" cy="0"/>
          </a:xfrm>
          <a:prstGeom prst="line">
            <a:avLst/>
          </a:prstGeom>
          <a:noFill/>
          <a:ln w="19050">
            <a:solidFill>
              <a:srgbClr val="00C9FF"/>
            </a:solidFill>
            <a:prstDash val="solid"/>
          </a:ln>
        </p:spPr>
        <p:txBody>
          <a:bodyPr/>
          <a:lstStyle/>
          <a:p>
            <a:endParaRPr lang="fr-FR"/>
          </a:p>
        </p:txBody>
      </p:sp>
      <p:sp>
        <p:nvSpPr>
          <p:cNvPr id="10" name="Shape 8"/>
          <p:cNvSpPr/>
          <p:nvPr/>
        </p:nvSpPr>
        <p:spPr>
          <a:xfrm>
            <a:off x="457200" y="4114800"/>
            <a:ext cx="3840480" cy="640080"/>
          </a:xfrm>
          <a:prstGeom prst="roundRect">
            <a:avLst>
              <a:gd name="adj" fmla="val 11429"/>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1" name="Image 0" descr="preencoded.png"/>
          <p:cNvPicPr>
            <a:picLocks noChangeAspect="1"/>
          </p:cNvPicPr>
          <p:nvPr/>
        </p:nvPicPr>
        <p:blipFill>
          <a:blip r:embed="rId3"/>
          <a:stretch>
            <a:fillRect/>
          </a:stretch>
        </p:blipFill>
        <p:spPr>
          <a:xfrm>
            <a:off x="685800" y="4233672"/>
            <a:ext cx="274320" cy="274320"/>
          </a:xfrm>
          <a:prstGeom prst="rect">
            <a:avLst/>
          </a:prstGeom>
        </p:spPr>
      </p:pic>
      <p:sp>
        <p:nvSpPr>
          <p:cNvPr id="12" name="Text 9"/>
          <p:cNvSpPr/>
          <p:nvPr/>
        </p:nvSpPr>
        <p:spPr>
          <a:xfrm>
            <a:off x="1051560" y="4114800"/>
            <a:ext cx="3108960" cy="64008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Hugo &amp; Louis  ·  Strasbourg Ynov Campus</a:t>
            </a:r>
            <a:endParaRPr lang="en-US" sz="1200" dirty="0"/>
          </a:p>
        </p:txBody>
      </p:sp>
      <p:sp>
        <p:nvSpPr>
          <p:cNvPr id="13" name="Shape 10"/>
          <p:cNvSpPr/>
          <p:nvPr/>
        </p:nvSpPr>
        <p:spPr>
          <a:xfrm>
            <a:off x="6035040" y="1280160"/>
            <a:ext cx="1371600" cy="1188720"/>
          </a:xfrm>
          <a:prstGeom prst="roundRect">
            <a:avLst>
              <a:gd name="adj" fmla="val 7692"/>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4" name="Image 1" descr="preencoded.png"/>
          <p:cNvPicPr>
            <a:picLocks noChangeAspect="1"/>
          </p:cNvPicPr>
          <p:nvPr/>
        </p:nvPicPr>
        <p:blipFill>
          <a:blip r:embed="rId4"/>
          <a:stretch>
            <a:fillRect/>
          </a:stretch>
        </p:blipFill>
        <p:spPr>
          <a:xfrm>
            <a:off x="6492240" y="1389888"/>
            <a:ext cx="457200" cy="457200"/>
          </a:xfrm>
          <a:prstGeom prst="rect">
            <a:avLst/>
          </a:prstGeom>
        </p:spPr>
      </p:pic>
      <p:sp>
        <p:nvSpPr>
          <p:cNvPr id="15" name="Text 11"/>
          <p:cNvSpPr/>
          <p:nvPr/>
        </p:nvSpPr>
        <p:spPr>
          <a:xfrm>
            <a:off x="6035040" y="1920240"/>
            <a:ext cx="13716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Golang</a:t>
            </a:r>
            <a:endParaRPr lang="en-US" sz="1000" dirty="0"/>
          </a:p>
        </p:txBody>
      </p:sp>
      <p:sp>
        <p:nvSpPr>
          <p:cNvPr id="16" name="Shape 12"/>
          <p:cNvSpPr/>
          <p:nvPr/>
        </p:nvSpPr>
        <p:spPr>
          <a:xfrm>
            <a:off x="7589520" y="1280160"/>
            <a:ext cx="1371600" cy="1188720"/>
          </a:xfrm>
          <a:prstGeom prst="roundRect">
            <a:avLst>
              <a:gd name="adj" fmla="val 7692"/>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7" name="Image 2" descr="preencoded.png"/>
          <p:cNvPicPr>
            <a:picLocks noChangeAspect="1"/>
          </p:cNvPicPr>
          <p:nvPr/>
        </p:nvPicPr>
        <p:blipFill>
          <a:blip r:embed="rId5"/>
          <a:stretch>
            <a:fillRect/>
          </a:stretch>
        </p:blipFill>
        <p:spPr>
          <a:xfrm>
            <a:off x="8046720" y="1389888"/>
            <a:ext cx="457200" cy="457200"/>
          </a:xfrm>
          <a:prstGeom prst="rect">
            <a:avLst/>
          </a:prstGeom>
        </p:spPr>
      </p:pic>
      <p:sp>
        <p:nvSpPr>
          <p:cNvPr id="18" name="Text 13"/>
          <p:cNvSpPr/>
          <p:nvPr/>
        </p:nvSpPr>
        <p:spPr>
          <a:xfrm>
            <a:off x="7589520" y="1920240"/>
            <a:ext cx="13716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HTML/CSS/JS</a:t>
            </a:r>
            <a:endParaRPr lang="en-US" sz="1000" dirty="0"/>
          </a:p>
        </p:txBody>
      </p:sp>
      <p:sp>
        <p:nvSpPr>
          <p:cNvPr id="19" name="Shape 14"/>
          <p:cNvSpPr/>
          <p:nvPr/>
        </p:nvSpPr>
        <p:spPr>
          <a:xfrm>
            <a:off x="6035040" y="2743200"/>
            <a:ext cx="1371600" cy="1188720"/>
          </a:xfrm>
          <a:prstGeom prst="roundRect">
            <a:avLst>
              <a:gd name="adj" fmla="val 7692"/>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20" name="Image 3" descr="preencoded.png"/>
          <p:cNvPicPr>
            <a:picLocks noChangeAspect="1"/>
          </p:cNvPicPr>
          <p:nvPr/>
        </p:nvPicPr>
        <p:blipFill>
          <a:blip r:embed="rId6"/>
          <a:stretch>
            <a:fillRect/>
          </a:stretch>
        </p:blipFill>
        <p:spPr>
          <a:xfrm>
            <a:off x="6492240" y="2852928"/>
            <a:ext cx="457200" cy="457200"/>
          </a:xfrm>
          <a:prstGeom prst="rect">
            <a:avLst/>
          </a:prstGeom>
        </p:spPr>
      </p:pic>
      <p:sp>
        <p:nvSpPr>
          <p:cNvPr id="21" name="Text 15"/>
          <p:cNvSpPr/>
          <p:nvPr/>
        </p:nvSpPr>
        <p:spPr>
          <a:xfrm>
            <a:off x="6035040" y="3383280"/>
            <a:ext cx="13716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SQL</a:t>
            </a:r>
            <a:endParaRPr lang="en-US" sz="1000" dirty="0"/>
          </a:p>
        </p:txBody>
      </p:sp>
      <p:sp>
        <p:nvSpPr>
          <p:cNvPr id="22" name="Shape 16"/>
          <p:cNvSpPr/>
          <p:nvPr/>
        </p:nvSpPr>
        <p:spPr>
          <a:xfrm>
            <a:off x="7589520" y="2743200"/>
            <a:ext cx="1371600" cy="1188720"/>
          </a:xfrm>
          <a:prstGeom prst="roundRect">
            <a:avLst>
              <a:gd name="adj" fmla="val 7692"/>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23" name="Image 4" descr="preencoded.png"/>
          <p:cNvPicPr>
            <a:picLocks noChangeAspect="1"/>
          </p:cNvPicPr>
          <p:nvPr/>
        </p:nvPicPr>
        <p:blipFill>
          <a:blip r:embed="rId7"/>
          <a:stretch>
            <a:fillRect/>
          </a:stretch>
        </p:blipFill>
        <p:spPr>
          <a:xfrm>
            <a:off x="8046720" y="2852928"/>
            <a:ext cx="457200" cy="457200"/>
          </a:xfrm>
          <a:prstGeom prst="rect">
            <a:avLst/>
          </a:prstGeom>
        </p:spPr>
      </p:pic>
      <p:sp>
        <p:nvSpPr>
          <p:cNvPr id="24" name="Text 17"/>
          <p:cNvSpPr/>
          <p:nvPr/>
        </p:nvSpPr>
        <p:spPr>
          <a:xfrm>
            <a:off x="7589520" y="3383280"/>
            <a:ext cx="1371600" cy="45720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Routing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7132320" y="-731520"/>
            <a:ext cx="3200400" cy="3200400"/>
          </a:xfrm>
          <a:prstGeom prst="ellipse">
            <a:avLst/>
          </a:prstGeom>
          <a:solidFill>
            <a:srgbClr val="00C9FF">
              <a:alpha val="10000"/>
            </a:srgbClr>
          </a:solidFill>
          <a:ln w="12700">
            <a:solidFill>
              <a:srgbClr val="00C9FF">
                <a:alpha val="25000"/>
              </a:srgbClr>
            </a:solidFill>
            <a:prstDash val="solid"/>
          </a:ln>
        </p:spPr>
        <p:txBody>
          <a:bodyPr/>
          <a:lstStyle/>
          <a:p>
            <a:endParaRPr lang="fr-FR"/>
          </a:p>
        </p:txBody>
      </p:sp>
      <p:sp>
        <p:nvSpPr>
          <p:cNvPr id="3" name="Text 1"/>
          <p:cNvSpPr/>
          <p:nvPr/>
        </p:nvSpPr>
        <p:spPr>
          <a:xfrm>
            <a:off x="457200" y="365760"/>
            <a:ext cx="8229600" cy="411480"/>
          </a:xfrm>
          <a:prstGeom prst="rect">
            <a:avLst/>
          </a:prstGeom>
          <a:noFill/>
          <a:ln/>
        </p:spPr>
        <p:txBody>
          <a:bodyPr wrap="square" lIns="0" tIns="0" rIns="0" bIns="0" rtlCol="0" anchor="ctr"/>
          <a:lstStyle/>
          <a:p>
            <a:pPr marL="0" indent="0" algn="l">
              <a:buNone/>
            </a:pPr>
            <a:r>
              <a:rPr lang="en-US" sz="1000" b="1" kern="0" spc="500" dirty="0">
                <a:solidFill>
                  <a:srgbClr val="00C9FF"/>
                </a:solidFill>
              </a:rPr>
              <a:t>SOMMAIRE</a:t>
            </a:r>
            <a:endParaRPr lang="en-US" sz="1000" dirty="0"/>
          </a:p>
        </p:txBody>
      </p:sp>
      <p:sp>
        <p:nvSpPr>
          <p:cNvPr id="4" name="Text 2"/>
          <p:cNvSpPr/>
          <p:nvPr/>
        </p:nvSpPr>
        <p:spPr>
          <a:xfrm>
            <a:off x="457200" y="777240"/>
            <a:ext cx="548640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Au programme</a:t>
            </a:r>
            <a:endParaRPr lang="en-US" sz="3600" dirty="0"/>
          </a:p>
        </p:txBody>
      </p:sp>
      <p:sp>
        <p:nvSpPr>
          <p:cNvPr id="5" name="Shape 3"/>
          <p:cNvSpPr/>
          <p:nvPr/>
        </p:nvSpPr>
        <p:spPr>
          <a:xfrm>
            <a:off x="457200" y="1572768"/>
            <a:ext cx="8229600" cy="0"/>
          </a:xfrm>
          <a:prstGeom prst="line">
            <a:avLst/>
          </a:prstGeom>
          <a:noFill/>
          <a:ln w="12700">
            <a:solidFill>
              <a:srgbClr val="1F2937"/>
            </a:solidFill>
            <a:prstDash val="solid"/>
          </a:ln>
        </p:spPr>
        <p:txBody>
          <a:bodyPr/>
          <a:lstStyle/>
          <a:p>
            <a:endParaRPr lang="fr-FR"/>
          </a:p>
        </p:txBody>
      </p:sp>
      <p:sp>
        <p:nvSpPr>
          <p:cNvPr id="6" name="Shape 4"/>
          <p:cNvSpPr/>
          <p:nvPr/>
        </p:nvSpPr>
        <p:spPr>
          <a:xfrm>
            <a:off x="411480" y="1828800"/>
            <a:ext cx="2651760" cy="2651760"/>
          </a:xfrm>
          <a:prstGeom prst="roundRect">
            <a:avLst>
              <a:gd name="adj" fmla="val 4138"/>
            </a:avLst>
          </a:prstGeom>
          <a:solidFill>
            <a:srgbClr val="161B22"/>
          </a:solidFill>
          <a:ln w="19050">
            <a:solidFill>
              <a:srgbClr val="00C9FF"/>
            </a:solidFill>
            <a:prstDash val="solid"/>
          </a:ln>
          <a:effectLst>
            <a:outerShdw blurRad="152400" dist="38100" dir="2700000" algn="bl" rotWithShape="0">
              <a:srgbClr val="000000">
                <a:alpha val="35000"/>
              </a:srgbClr>
            </a:outerShdw>
          </a:effectLst>
        </p:spPr>
        <p:txBody>
          <a:bodyPr/>
          <a:lstStyle/>
          <a:p>
            <a:endParaRPr lang="fr-FR"/>
          </a:p>
        </p:txBody>
      </p:sp>
      <p:sp>
        <p:nvSpPr>
          <p:cNvPr id="7" name="Text 5"/>
          <p:cNvSpPr/>
          <p:nvPr/>
        </p:nvSpPr>
        <p:spPr>
          <a:xfrm>
            <a:off x="594360" y="2029968"/>
            <a:ext cx="1097280" cy="731520"/>
          </a:xfrm>
          <a:prstGeom prst="rect">
            <a:avLst/>
          </a:prstGeom>
          <a:noFill/>
          <a:ln/>
        </p:spPr>
        <p:txBody>
          <a:bodyPr wrap="square" lIns="0" tIns="0" rIns="0" bIns="0" rtlCol="0" anchor="ctr"/>
          <a:lstStyle/>
          <a:p>
            <a:pPr marL="0" indent="0">
              <a:buNone/>
            </a:pPr>
            <a:r>
              <a:rPr lang="en-US" sz="4200" b="1" dirty="0">
                <a:solidFill>
                  <a:srgbClr val="00C9FF"/>
                </a:solidFill>
                <a:latin typeface="Calibri" pitchFamily="34" charset="0"/>
                <a:ea typeface="Calibri" pitchFamily="34" charset="-122"/>
                <a:cs typeface="Calibri" pitchFamily="34" charset="-120"/>
              </a:rPr>
              <a:t>01</a:t>
            </a:r>
            <a:endParaRPr lang="en-US" sz="4200" dirty="0"/>
          </a:p>
        </p:txBody>
      </p:sp>
      <p:sp>
        <p:nvSpPr>
          <p:cNvPr id="8" name="Text 6"/>
          <p:cNvSpPr/>
          <p:nvPr/>
        </p:nvSpPr>
        <p:spPr>
          <a:xfrm>
            <a:off x="594360" y="2788920"/>
            <a:ext cx="2286000" cy="5943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Présentation du Projet</a:t>
            </a:r>
            <a:endParaRPr lang="en-US" sz="1500" dirty="0"/>
          </a:p>
        </p:txBody>
      </p:sp>
      <p:sp>
        <p:nvSpPr>
          <p:cNvPr id="9" name="Text 7"/>
          <p:cNvSpPr/>
          <p:nvPr/>
        </p:nvSpPr>
        <p:spPr>
          <a:xfrm>
            <a:off x="594360" y="3429000"/>
            <a:ext cx="2286000" cy="73152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Technologies· Architecture · Routage</a:t>
            </a:r>
            <a:endParaRPr lang="en-US" sz="1100" dirty="0"/>
          </a:p>
        </p:txBody>
      </p:sp>
      <p:sp>
        <p:nvSpPr>
          <p:cNvPr id="10" name="Shape 8"/>
          <p:cNvSpPr/>
          <p:nvPr/>
        </p:nvSpPr>
        <p:spPr>
          <a:xfrm>
            <a:off x="3291840" y="1828800"/>
            <a:ext cx="2651760" cy="2651760"/>
          </a:xfrm>
          <a:prstGeom prst="roundRect">
            <a:avLst>
              <a:gd name="adj" fmla="val 4138"/>
            </a:avLst>
          </a:prstGeom>
          <a:solidFill>
            <a:srgbClr val="161B22"/>
          </a:solidFill>
          <a:ln w="19050">
            <a:solidFill>
              <a:srgbClr val="7C3AED"/>
            </a:solidFill>
            <a:prstDash val="solid"/>
          </a:ln>
          <a:effectLst>
            <a:outerShdw blurRad="152400" dist="38100" dir="2700000" algn="bl" rotWithShape="0">
              <a:srgbClr val="000000">
                <a:alpha val="35000"/>
              </a:srgbClr>
            </a:outerShdw>
          </a:effectLst>
        </p:spPr>
        <p:txBody>
          <a:bodyPr/>
          <a:lstStyle/>
          <a:p>
            <a:endParaRPr lang="fr-FR"/>
          </a:p>
        </p:txBody>
      </p:sp>
      <p:sp>
        <p:nvSpPr>
          <p:cNvPr id="11" name="Text 9"/>
          <p:cNvSpPr/>
          <p:nvPr/>
        </p:nvSpPr>
        <p:spPr>
          <a:xfrm>
            <a:off x="3474720" y="2029968"/>
            <a:ext cx="1097280" cy="731520"/>
          </a:xfrm>
          <a:prstGeom prst="rect">
            <a:avLst/>
          </a:prstGeom>
          <a:noFill/>
          <a:ln/>
        </p:spPr>
        <p:txBody>
          <a:bodyPr wrap="square" lIns="0" tIns="0" rIns="0" bIns="0" rtlCol="0" anchor="ctr"/>
          <a:lstStyle/>
          <a:p>
            <a:pPr marL="0" indent="0">
              <a:buNone/>
            </a:pPr>
            <a:r>
              <a:rPr lang="en-US" sz="4200" b="1" dirty="0">
                <a:solidFill>
                  <a:srgbClr val="7C3AED"/>
                </a:solidFill>
                <a:latin typeface="Calibri" pitchFamily="34" charset="0"/>
                <a:ea typeface="Calibri" pitchFamily="34" charset="-122"/>
                <a:cs typeface="Calibri" pitchFamily="34" charset="-120"/>
              </a:rPr>
              <a:t>02</a:t>
            </a:r>
            <a:endParaRPr lang="en-US" sz="4200" dirty="0"/>
          </a:p>
        </p:txBody>
      </p:sp>
      <p:sp>
        <p:nvSpPr>
          <p:cNvPr id="12" name="Text 10"/>
          <p:cNvSpPr/>
          <p:nvPr/>
        </p:nvSpPr>
        <p:spPr>
          <a:xfrm>
            <a:off x="3474720" y="2788920"/>
            <a:ext cx="2286000" cy="5943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Démonstration</a:t>
            </a:r>
            <a:endParaRPr lang="en-US" sz="1500" dirty="0"/>
          </a:p>
        </p:txBody>
      </p:sp>
      <p:sp>
        <p:nvSpPr>
          <p:cNvPr id="13" name="Text 11"/>
          <p:cNvSpPr/>
          <p:nvPr/>
        </p:nvSpPr>
        <p:spPr>
          <a:xfrm>
            <a:off x="3474720" y="3429000"/>
            <a:ext cx="2286000" cy="73152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Fonctionnalités obligatoires · Bonus</a:t>
            </a:r>
            <a:endParaRPr lang="en-US" sz="1100" dirty="0"/>
          </a:p>
        </p:txBody>
      </p:sp>
      <p:sp>
        <p:nvSpPr>
          <p:cNvPr id="14" name="Shape 12"/>
          <p:cNvSpPr/>
          <p:nvPr/>
        </p:nvSpPr>
        <p:spPr>
          <a:xfrm>
            <a:off x="6172200" y="1828800"/>
            <a:ext cx="2651760" cy="2651760"/>
          </a:xfrm>
          <a:prstGeom prst="roundRect">
            <a:avLst>
              <a:gd name="adj" fmla="val 4138"/>
            </a:avLst>
          </a:prstGeom>
          <a:solidFill>
            <a:srgbClr val="161B22"/>
          </a:solidFill>
          <a:ln w="19050">
            <a:solidFill>
              <a:srgbClr val="10B981"/>
            </a:solidFill>
            <a:prstDash val="solid"/>
          </a:ln>
          <a:effectLst>
            <a:outerShdw blurRad="152400" dist="38100" dir="2700000" algn="bl" rotWithShape="0">
              <a:srgbClr val="000000">
                <a:alpha val="35000"/>
              </a:srgbClr>
            </a:outerShdw>
          </a:effectLst>
        </p:spPr>
        <p:txBody>
          <a:bodyPr/>
          <a:lstStyle/>
          <a:p>
            <a:endParaRPr lang="fr-FR"/>
          </a:p>
        </p:txBody>
      </p:sp>
      <p:sp>
        <p:nvSpPr>
          <p:cNvPr id="15" name="Text 13"/>
          <p:cNvSpPr/>
          <p:nvPr/>
        </p:nvSpPr>
        <p:spPr>
          <a:xfrm>
            <a:off x="6355080" y="2029968"/>
            <a:ext cx="1097280" cy="731520"/>
          </a:xfrm>
          <a:prstGeom prst="rect">
            <a:avLst/>
          </a:prstGeom>
          <a:noFill/>
          <a:ln/>
        </p:spPr>
        <p:txBody>
          <a:bodyPr wrap="square" lIns="0" tIns="0" rIns="0" bIns="0" rtlCol="0" anchor="ctr"/>
          <a:lstStyle/>
          <a:p>
            <a:pPr marL="0" indent="0">
              <a:buNone/>
            </a:pPr>
            <a:r>
              <a:rPr lang="en-US" sz="4200" b="1" dirty="0">
                <a:solidFill>
                  <a:srgbClr val="10B981"/>
                </a:solidFill>
                <a:latin typeface="Calibri" pitchFamily="34" charset="0"/>
                <a:ea typeface="Calibri" pitchFamily="34" charset="-122"/>
                <a:cs typeface="Calibri" pitchFamily="34" charset="-120"/>
              </a:rPr>
              <a:t>03</a:t>
            </a:r>
            <a:endParaRPr lang="en-US" sz="4200" dirty="0"/>
          </a:p>
        </p:txBody>
      </p:sp>
      <p:sp>
        <p:nvSpPr>
          <p:cNvPr id="16" name="Text 14"/>
          <p:cNvSpPr/>
          <p:nvPr/>
        </p:nvSpPr>
        <p:spPr>
          <a:xfrm>
            <a:off x="6355080" y="2788920"/>
            <a:ext cx="2286000" cy="5943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Organisation du Travail</a:t>
            </a:r>
            <a:endParaRPr lang="en-US" sz="1500" dirty="0"/>
          </a:p>
        </p:txBody>
      </p:sp>
      <p:sp>
        <p:nvSpPr>
          <p:cNvPr id="17" name="Text 15"/>
          <p:cNvSpPr/>
          <p:nvPr/>
        </p:nvSpPr>
        <p:spPr>
          <a:xfrm>
            <a:off x="6355080" y="3429000"/>
            <a:ext cx="2286000" cy="731520"/>
          </a:xfrm>
          <a:prstGeom prst="rect">
            <a:avLst/>
          </a:prstGeom>
          <a:noFill/>
          <a:ln/>
        </p:spPr>
        <p:txBody>
          <a:bodyPr wrap="square" lIns="0" tIns="0" rIns="0" bIns="0" rtlCol="0" anchor="ctr"/>
          <a:lstStyle/>
          <a:p>
            <a:pPr marL="0" indent="0">
              <a:buNone/>
            </a:pPr>
            <a:r>
              <a:rPr lang="en-US" sz="1100" dirty="0">
                <a:solidFill>
                  <a:srgbClr val="8B949E"/>
                </a:solidFill>
                <a:latin typeface="Calibri" pitchFamily="34" charset="0"/>
                <a:ea typeface="Calibri" pitchFamily="34" charset="-122"/>
                <a:cs typeface="Calibri" pitchFamily="34" charset="-120"/>
              </a:rPr>
              <a:t>Répartition · Difficultés · Solutions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320040"/>
          </a:xfrm>
          <a:prstGeom prst="rect">
            <a:avLst/>
          </a:prstGeom>
          <a:noFill/>
          <a:ln/>
        </p:spPr>
        <p:txBody>
          <a:bodyPr wrap="square" lIns="0" tIns="0" rIns="0" bIns="0" rtlCol="0" anchor="ctr"/>
          <a:lstStyle/>
          <a:p>
            <a:pPr marL="0" indent="0">
              <a:buNone/>
            </a:pPr>
            <a:r>
              <a:rPr lang="en-US" sz="900" b="1" kern="0" spc="400" dirty="0">
                <a:solidFill>
                  <a:srgbClr val="00C9FF"/>
                </a:solidFill>
              </a:rPr>
              <a:t>01 — STACK TECHNIQUE</a:t>
            </a:r>
            <a:endParaRPr lang="en-US" sz="900" dirty="0"/>
          </a:p>
        </p:txBody>
      </p:sp>
      <p:sp>
        <p:nvSpPr>
          <p:cNvPr id="3" name="Text 1"/>
          <p:cNvSpPr/>
          <p:nvPr/>
        </p:nvSpPr>
        <p:spPr>
          <a:xfrm>
            <a:off x="457200" y="640080"/>
            <a:ext cx="64008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Technologies &amp; Architecture</a:t>
            </a:r>
            <a:endParaRPr lang="en-US" sz="3000" dirty="0"/>
          </a:p>
        </p:txBody>
      </p:sp>
      <p:sp>
        <p:nvSpPr>
          <p:cNvPr id="4" name="Shape 2"/>
          <p:cNvSpPr/>
          <p:nvPr/>
        </p:nvSpPr>
        <p:spPr>
          <a:xfrm>
            <a:off x="457200" y="1325880"/>
            <a:ext cx="8229600" cy="0"/>
          </a:xfrm>
          <a:prstGeom prst="line">
            <a:avLst/>
          </a:prstGeom>
          <a:noFill/>
          <a:ln w="12700">
            <a:solidFill>
              <a:srgbClr val="1F2937"/>
            </a:solidFill>
            <a:prstDash val="solid"/>
          </a:ln>
        </p:spPr>
        <p:txBody>
          <a:bodyPr/>
          <a:lstStyle/>
          <a:p>
            <a:endParaRPr lang="fr-FR"/>
          </a:p>
        </p:txBody>
      </p:sp>
      <p:sp>
        <p:nvSpPr>
          <p:cNvPr id="5" name="Shape 3"/>
          <p:cNvSpPr/>
          <p:nvPr/>
        </p:nvSpPr>
        <p:spPr>
          <a:xfrm>
            <a:off x="411480" y="1508760"/>
            <a:ext cx="4023360" cy="658368"/>
          </a:xfrm>
          <a:prstGeom prst="roundRect">
            <a:avLst>
              <a:gd name="adj" fmla="val 11111"/>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6" name="Image 0" descr="preencoded.png"/>
          <p:cNvPicPr>
            <a:picLocks noChangeAspect="1"/>
          </p:cNvPicPr>
          <p:nvPr/>
        </p:nvPicPr>
        <p:blipFill>
          <a:blip r:embed="rId3"/>
          <a:stretch>
            <a:fillRect/>
          </a:stretch>
        </p:blipFill>
        <p:spPr>
          <a:xfrm>
            <a:off x="640080" y="1636776"/>
            <a:ext cx="347472" cy="347472"/>
          </a:xfrm>
          <a:prstGeom prst="rect">
            <a:avLst/>
          </a:prstGeom>
        </p:spPr>
      </p:pic>
      <p:sp>
        <p:nvSpPr>
          <p:cNvPr id="7" name="Text 4"/>
          <p:cNvSpPr/>
          <p:nvPr/>
        </p:nvSpPr>
        <p:spPr>
          <a:xfrm>
            <a:off x="1115568" y="1563624"/>
            <a:ext cx="3200400" cy="256032"/>
          </a:xfrm>
          <a:prstGeom prst="rect">
            <a:avLst/>
          </a:prstGeom>
          <a:noFill/>
          <a:ln/>
        </p:spPr>
        <p:txBody>
          <a:bodyPr wrap="square" lIns="0" tIns="0" rIns="0" bIns="0" rtlCol="0" anchor="ctr"/>
          <a:lstStyle/>
          <a:p>
            <a:pPr marL="0" indent="0">
              <a:buNone/>
            </a:pPr>
            <a:r>
              <a:rPr lang="en-US" sz="800" b="1" kern="0" spc="200" dirty="0">
                <a:solidFill>
                  <a:srgbClr val="8B949E"/>
                </a:solidFill>
              </a:rPr>
              <a:t>BACKEND</a:t>
            </a:r>
            <a:endParaRPr lang="en-US" sz="800" dirty="0"/>
          </a:p>
        </p:txBody>
      </p:sp>
      <p:sp>
        <p:nvSpPr>
          <p:cNvPr id="8" name="Text 5"/>
          <p:cNvSpPr/>
          <p:nvPr/>
        </p:nvSpPr>
        <p:spPr>
          <a:xfrm>
            <a:off x="1115568" y="1810512"/>
            <a:ext cx="32004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Go (Golang)</a:t>
            </a:r>
            <a:endParaRPr lang="en-US" sz="1300" dirty="0"/>
          </a:p>
        </p:txBody>
      </p:sp>
      <p:sp>
        <p:nvSpPr>
          <p:cNvPr id="9" name="Shape 6"/>
          <p:cNvSpPr/>
          <p:nvPr/>
        </p:nvSpPr>
        <p:spPr>
          <a:xfrm>
            <a:off x="411480" y="2331720"/>
            <a:ext cx="4023360" cy="658368"/>
          </a:xfrm>
          <a:prstGeom prst="roundRect">
            <a:avLst>
              <a:gd name="adj" fmla="val 11111"/>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0" name="Image 1" descr="preencoded.png"/>
          <p:cNvPicPr>
            <a:picLocks noChangeAspect="1"/>
          </p:cNvPicPr>
          <p:nvPr/>
        </p:nvPicPr>
        <p:blipFill>
          <a:blip r:embed="rId4"/>
          <a:stretch>
            <a:fillRect/>
          </a:stretch>
        </p:blipFill>
        <p:spPr>
          <a:xfrm>
            <a:off x="640080" y="2459736"/>
            <a:ext cx="347472" cy="347472"/>
          </a:xfrm>
          <a:prstGeom prst="rect">
            <a:avLst/>
          </a:prstGeom>
        </p:spPr>
      </p:pic>
      <p:sp>
        <p:nvSpPr>
          <p:cNvPr id="11" name="Text 7"/>
          <p:cNvSpPr/>
          <p:nvPr/>
        </p:nvSpPr>
        <p:spPr>
          <a:xfrm>
            <a:off x="1115568" y="2386584"/>
            <a:ext cx="3200400" cy="256032"/>
          </a:xfrm>
          <a:prstGeom prst="rect">
            <a:avLst/>
          </a:prstGeom>
          <a:noFill/>
          <a:ln/>
        </p:spPr>
        <p:txBody>
          <a:bodyPr wrap="square" lIns="0" tIns="0" rIns="0" bIns="0" rtlCol="0" anchor="ctr"/>
          <a:lstStyle/>
          <a:p>
            <a:pPr marL="0" indent="0">
              <a:buNone/>
            </a:pPr>
            <a:r>
              <a:rPr lang="en-US" sz="800" b="1" kern="0" spc="200" dirty="0">
                <a:solidFill>
                  <a:srgbClr val="8B949E"/>
                </a:solidFill>
              </a:rPr>
              <a:t>FRONTEND</a:t>
            </a:r>
            <a:endParaRPr lang="en-US" sz="800" dirty="0"/>
          </a:p>
        </p:txBody>
      </p:sp>
      <p:sp>
        <p:nvSpPr>
          <p:cNvPr id="12" name="Text 8"/>
          <p:cNvSpPr/>
          <p:nvPr/>
        </p:nvSpPr>
        <p:spPr>
          <a:xfrm>
            <a:off x="1115568" y="2633472"/>
            <a:ext cx="32004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HTML · CSS · JavaScript</a:t>
            </a:r>
            <a:endParaRPr lang="en-US" sz="1300" dirty="0"/>
          </a:p>
        </p:txBody>
      </p:sp>
      <p:sp>
        <p:nvSpPr>
          <p:cNvPr id="13" name="Shape 9"/>
          <p:cNvSpPr/>
          <p:nvPr/>
        </p:nvSpPr>
        <p:spPr>
          <a:xfrm>
            <a:off x="411480" y="3154680"/>
            <a:ext cx="4023360" cy="658368"/>
          </a:xfrm>
          <a:prstGeom prst="roundRect">
            <a:avLst>
              <a:gd name="adj" fmla="val 11111"/>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4" name="Image 2" descr="preencoded.png"/>
          <p:cNvPicPr>
            <a:picLocks noChangeAspect="1"/>
          </p:cNvPicPr>
          <p:nvPr/>
        </p:nvPicPr>
        <p:blipFill>
          <a:blip r:embed="rId5"/>
          <a:stretch>
            <a:fillRect/>
          </a:stretch>
        </p:blipFill>
        <p:spPr>
          <a:xfrm>
            <a:off x="640080" y="3282696"/>
            <a:ext cx="347472" cy="347472"/>
          </a:xfrm>
          <a:prstGeom prst="rect">
            <a:avLst/>
          </a:prstGeom>
        </p:spPr>
      </p:pic>
      <p:sp>
        <p:nvSpPr>
          <p:cNvPr id="15" name="Text 10"/>
          <p:cNvSpPr/>
          <p:nvPr/>
        </p:nvSpPr>
        <p:spPr>
          <a:xfrm>
            <a:off x="1115568" y="3209544"/>
            <a:ext cx="3200400" cy="256032"/>
          </a:xfrm>
          <a:prstGeom prst="rect">
            <a:avLst/>
          </a:prstGeom>
          <a:noFill/>
          <a:ln/>
        </p:spPr>
        <p:txBody>
          <a:bodyPr wrap="square" lIns="0" tIns="0" rIns="0" bIns="0" rtlCol="0" anchor="ctr"/>
          <a:lstStyle/>
          <a:p>
            <a:pPr marL="0" indent="0">
              <a:buNone/>
            </a:pPr>
            <a:r>
              <a:rPr lang="en-US" sz="800" b="1" kern="0" spc="200" dirty="0">
                <a:solidFill>
                  <a:srgbClr val="8B949E"/>
                </a:solidFill>
              </a:rPr>
              <a:t>BASE DE DONNÉES</a:t>
            </a:r>
            <a:endParaRPr lang="en-US" sz="800" dirty="0"/>
          </a:p>
        </p:txBody>
      </p:sp>
      <p:sp>
        <p:nvSpPr>
          <p:cNvPr id="16" name="Text 11"/>
          <p:cNvSpPr/>
          <p:nvPr/>
        </p:nvSpPr>
        <p:spPr>
          <a:xfrm>
            <a:off x="1115568" y="3456432"/>
            <a:ext cx="32004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SQL / XAMPP</a:t>
            </a:r>
            <a:endParaRPr lang="en-US" sz="1300" dirty="0"/>
          </a:p>
        </p:txBody>
      </p:sp>
      <p:sp>
        <p:nvSpPr>
          <p:cNvPr id="17" name="Shape 12"/>
          <p:cNvSpPr/>
          <p:nvPr/>
        </p:nvSpPr>
        <p:spPr>
          <a:xfrm>
            <a:off x="411480" y="3977640"/>
            <a:ext cx="4023360" cy="658368"/>
          </a:xfrm>
          <a:prstGeom prst="roundRect">
            <a:avLst>
              <a:gd name="adj" fmla="val 11111"/>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8" name="Image 3" descr="preencoded.png"/>
          <p:cNvPicPr>
            <a:picLocks noChangeAspect="1"/>
          </p:cNvPicPr>
          <p:nvPr/>
        </p:nvPicPr>
        <p:blipFill>
          <a:blip r:embed="rId6"/>
          <a:stretch>
            <a:fillRect/>
          </a:stretch>
        </p:blipFill>
        <p:spPr>
          <a:xfrm>
            <a:off x="640080" y="4105656"/>
            <a:ext cx="347472" cy="347472"/>
          </a:xfrm>
          <a:prstGeom prst="rect">
            <a:avLst/>
          </a:prstGeom>
        </p:spPr>
      </p:pic>
      <p:sp>
        <p:nvSpPr>
          <p:cNvPr id="19" name="Text 13"/>
          <p:cNvSpPr/>
          <p:nvPr/>
        </p:nvSpPr>
        <p:spPr>
          <a:xfrm>
            <a:off x="1115568" y="4032504"/>
            <a:ext cx="3200400" cy="256032"/>
          </a:xfrm>
          <a:prstGeom prst="rect">
            <a:avLst/>
          </a:prstGeom>
          <a:noFill/>
          <a:ln/>
        </p:spPr>
        <p:txBody>
          <a:bodyPr wrap="square" lIns="0" tIns="0" rIns="0" bIns="0" rtlCol="0" anchor="ctr"/>
          <a:lstStyle/>
          <a:p>
            <a:pPr marL="0" indent="0">
              <a:buNone/>
            </a:pPr>
            <a:r>
              <a:rPr lang="en-US" sz="800" b="1" kern="0" spc="200" dirty="0">
                <a:solidFill>
                  <a:srgbClr val="8B949E"/>
                </a:solidFill>
              </a:rPr>
              <a:t>VERSIONING</a:t>
            </a:r>
            <a:endParaRPr lang="en-US" sz="800" dirty="0"/>
          </a:p>
        </p:txBody>
      </p:sp>
      <p:sp>
        <p:nvSpPr>
          <p:cNvPr id="20" name="Text 14"/>
          <p:cNvSpPr/>
          <p:nvPr/>
        </p:nvSpPr>
        <p:spPr>
          <a:xfrm>
            <a:off x="1115568" y="4279392"/>
            <a:ext cx="32004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Git / GitHub</a:t>
            </a:r>
            <a:endParaRPr lang="en-US" sz="1300" dirty="0"/>
          </a:p>
        </p:txBody>
      </p:sp>
      <p:sp>
        <p:nvSpPr>
          <p:cNvPr id="21" name="Text 15"/>
          <p:cNvSpPr/>
          <p:nvPr/>
        </p:nvSpPr>
        <p:spPr>
          <a:xfrm>
            <a:off x="4846320" y="1417320"/>
            <a:ext cx="3840480" cy="274320"/>
          </a:xfrm>
          <a:prstGeom prst="rect">
            <a:avLst/>
          </a:prstGeom>
          <a:noFill/>
          <a:ln/>
        </p:spPr>
        <p:txBody>
          <a:bodyPr wrap="square" lIns="0" tIns="0" rIns="0" bIns="0" rtlCol="0" anchor="ctr"/>
          <a:lstStyle/>
          <a:p>
            <a:pPr marL="0" indent="0">
              <a:buNone/>
            </a:pPr>
            <a:r>
              <a:rPr lang="en-US" sz="900" b="1" kern="0" spc="300" dirty="0">
                <a:solidFill>
                  <a:srgbClr val="8B949E"/>
                </a:solidFill>
              </a:rPr>
              <a:t>ARCHITECTURE</a:t>
            </a:r>
            <a:endParaRPr lang="en-US" sz="900" dirty="0"/>
          </a:p>
        </p:txBody>
      </p:sp>
      <p:sp>
        <p:nvSpPr>
          <p:cNvPr id="22" name="Shape 16"/>
          <p:cNvSpPr/>
          <p:nvPr/>
        </p:nvSpPr>
        <p:spPr>
          <a:xfrm>
            <a:off x="5760720" y="1737360"/>
            <a:ext cx="2286000" cy="548640"/>
          </a:xfrm>
          <a:prstGeom prst="roundRect">
            <a:avLst>
              <a:gd name="adj" fmla="val 13333"/>
            </a:avLst>
          </a:prstGeom>
          <a:solidFill>
            <a:srgbClr val="7C3AED">
              <a:alpha val="70000"/>
            </a:srgbClr>
          </a:solidFill>
          <a:ln w="19050">
            <a:solidFill>
              <a:srgbClr val="7C3AED"/>
            </a:solidFill>
            <a:prstDash val="solid"/>
          </a:ln>
        </p:spPr>
        <p:txBody>
          <a:bodyPr/>
          <a:lstStyle/>
          <a:p>
            <a:endParaRPr lang="fr-FR"/>
          </a:p>
        </p:txBody>
      </p:sp>
      <p:sp>
        <p:nvSpPr>
          <p:cNvPr id="23" name="Text 17"/>
          <p:cNvSpPr/>
          <p:nvPr/>
        </p:nvSpPr>
        <p:spPr>
          <a:xfrm>
            <a:off x="5760720" y="1737360"/>
            <a:ext cx="2286000" cy="548640"/>
          </a:xfrm>
          <a:prstGeom prst="rect">
            <a:avLst/>
          </a:prstGeom>
          <a:noFill/>
          <a:ln/>
        </p:spPr>
        <p:txBody>
          <a:bodyPr wrap="square" lIns="0" tIns="0" rIns="0" bIns="0" rtlCol="0" anchor="ctr"/>
          <a:lstStyle/>
          <a:p>
            <a:pPr marL="0" indent="0" algn="ctr">
              <a:buNone/>
            </a:pPr>
            <a:r>
              <a:rPr lang="en-US" sz="1100" b="1" dirty="0">
                <a:solidFill>
                  <a:srgbClr val="FFFFFF"/>
                </a:solidFill>
              </a:rPr>
              <a:t>🌐  Navigateur (Client)</a:t>
            </a:r>
            <a:endParaRPr lang="en-US" sz="1100" dirty="0"/>
          </a:p>
        </p:txBody>
      </p:sp>
      <p:sp>
        <p:nvSpPr>
          <p:cNvPr id="24" name="Shape 18"/>
          <p:cNvSpPr/>
          <p:nvPr/>
        </p:nvSpPr>
        <p:spPr>
          <a:xfrm>
            <a:off x="6903720" y="2286000"/>
            <a:ext cx="0" cy="365760"/>
          </a:xfrm>
          <a:prstGeom prst="line">
            <a:avLst/>
          </a:prstGeom>
          <a:noFill/>
          <a:ln w="19050">
            <a:solidFill>
              <a:srgbClr val="8B949E"/>
            </a:solidFill>
            <a:prstDash val="solid"/>
          </a:ln>
        </p:spPr>
        <p:txBody>
          <a:bodyPr/>
          <a:lstStyle/>
          <a:p>
            <a:endParaRPr lang="fr-FR"/>
          </a:p>
        </p:txBody>
      </p:sp>
      <p:sp>
        <p:nvSpPr>
          <p:cNvPr id="25" name="Text 19"/>
          <p:cNvSpPr/>
          <p:nvPr/>
        </p:nvSpPr>
        <p:spPr>
          <a:xfrm>
            <a:off x="6949440" y="2377440"/>
            <a:ext cx="1188720" cy="228600"/>
          </a:xfrm>
          <a:prstGeom prst="rect">
            <a:avLst/>
          </a:prstGeom>
          <a:noFill/>
          <a:ln/>
        </p:spPr>
        <p:txBody>
          <a:bodyPr wrap="square" lIns="0" tIns="0" rIns="0" bIns="0" rtlCol="0" anchor="ctr"/>
          <a:lstStyle/>
          <a:p>
            <a:pPr marL="0" indent="0">
              <a:buNone/>
            </a:pPr>
            <a:r>
              <a:rPr lang="en-US" sz="800" dirty="0">
                <a:solidFill>
                  <a:srgbClr val="8B949E"/>
                </a:solidFill>
              </a:rPr>
              <a:t>HTTP/8080</a:t>
            </a:r>
            <a:endParaRPr lang="en-US" sz="800" dirty="0"/>
          </a:p>
        </p:txBody>
      </p:sp>
      <p:sp>
        <p:nvSpPr>
          <p:cNvPr id="26" name="Shape 20"/>
          <p:cNvSpPr/>
          <p:nvPr/>
        </p:nvSpPr>
        <p:spPr>
          <a:xfrm>
            <a:off x="5212080" y="2651760"/>
            <a:ext cx="3383280" cy="548640"/>
          </a:xfrm>
          <a:prstGeom prst="roundRect">
            <a:avLst>
              <a:gd name="adj" fmla="val 13333"/>
            </a:avLst>
          </a:prstGeom>
          <a:solidFill>
            <a:srgbClr val="00C9FF">
              <a:alpha val="80000"/>
            </a:srgbClr>
          </a:solidFill>
          <a:ln w="19050">
            <a:solidFill>
              <a:srgbClr val="00C9FF"/>
            </a:solidFill>
            <a:prstDash val="solid"/>
          </a:ln>
        </p:spPr>
        <p:txBody>
          <a:bodyPr/>
          <a:lstStyle/>
          <a:p>
            <a:endParaRPr lang="fr-FR"/>
          </a:p>
        </p:txBody>
      </p:sp>
      <p:sp>
        <p:nvSpPr>
          <p:cNvPr id="27" name="Text 21"/>
          <p:cNvSpPr/>
          <p:nvPr/>
        </p:nvSpPr>
        <p:spPr>
          <a:xfrm>
            <a:off x="5212080" y="2651760"/>
            <a:ext cx="3383280" cy="548640"/>
          </a:xfrm>
          <a:prstGeom prst="rect">
            <a:avLst/>
          </a:prstGeom>
          <a:noFill/>
          <a:ln/>
        </p:spPr>
        <p:txBody>
          <a:bodyPr wrap="square" lIns="0" tIns="0" rIns="0" bIns="0" rtlCol="0" anchor="ctr"/>
          <a:lstStyle/>
          <a:p>
            <a:pPr marL="0" indent="0" algn="ctr">
              <a:buNone/>
            </a:pPr>
            <a:r>
              <a:rPr lang="en-US" sz="1100" b="1" dirty="0">
                <a:solidFill>
                  <a:srgbClr val="0D1117"/>
                </a:solidFill>
              </a:rPr>
              <a:t>⚙️  Serveur Go (net/http)</a:t>
            </a:r>
            <a:endParaRPr lang="en-US" sz="1100" dirty="0"/>
          </a:p>
        </p:txBody>
      </p:sp>
      <p:sp>
        <p:nvSpPr>
          <p:cNvPr id="28" name="Shape 22"/>
          <p:cNvSpPr/>
          <p:nvPr/>
        </p:nvSpPr>
        <p:spPr>
          <a:xfrm>
            <a:off x="6903720" y="3200400"/>
            <a:ext cx="0" cy="365760"/>
          </a:xfrm>
          <a:prstGeom prst="line">
            <a:avLst/>
          </a:prstGeom>
          <a:noFill/>
          <a:ln w="19050">
            <a:solidFill>
              <a:srgbClr val="8B949E"/>
            </a:solidFill>
            <a:prstDash val="solid"/>
          </a:ln>
        </p:spPr>
        <p:txBody>
          <a:bodyPr/>
          <a:lstStyle/>
          <a:p>
            <a:endParaRPr lang="fr-FR"/>
          </a:p>
        </p:txBody>
      </p:sp>
      <p:sp>
        <p:nvSpPr>
          <p:cNvPr id="29" name="Shape 23"/>
          <p:cNvSpPr/>
          <p:nvPr/>
        </p:nvSpPr>
        <p:spPr>
          <a:xfrm>
            <a:off x="5212080" y="3566160"/>
            <a:ext cx="3383280" cy="548640"/>
          </a:xfrm>
          <a:prstGeom prst="roundRect">
            <a:avLst>
              <a:gd name="adj" fmla="val 13333"/>
            </a:avLst>
          </a:prstGeom>
          <a:solidFill>
            <a:srgbClr val="1F2937"/>
          </a:solidFill>
          <a:ln w="19050">
            <a:solidFill>
              <a:srgbClr val="10B981"/>
            </a:solidFill>
            <a:prstDash val="solid"/>
          </a:ln>
        </p:spPr>
        <p:txBody>
          <a:bodyPr/>
          <a:lstStyle/>
          <a:p>
            <a:endParaRPr lang="fr-FR"/>
          </a:p>
        </p:txBody>
      </p:sp>
      <p:sp>
        <p:nvSpPr>
          <p:cNvPr id="30" name="Text 24"/>
          <p:cNvSpPr/>
          <p:nvPr/>
        </p:nvSpPr>
        <p:spPr>
          <a:xfrm>
            <a:off x="5212080" y="3566160"/>
            <a:ext cx="3383280" cy="548640"/>
          </a:xfrm>
          <a:prstGeom prst="rect">
            <a:avLst/>
          </a:prstGeom>
          <a:noFill/>
          <a:ln/>
        </p:spPr>
        <p:txBody>
          <a:bodyPr wrap="square" lIns="0" tIns="0" rIns="0" bIns="0" rtlCol="0" anchor="ctr"/>
          <a:lstStyle/>
          <a:p>
            <a:pPr marL="0" indent="0" algn="ctr">
              <a:buNone/>
            </a:pPr>
            <a:r>
              <a:rPr lang="en-US" sz="1100" dirty="0">
                <a:solidFill>
                  <a:srgbClr val="FFFFFF"/>
                </a:solidFill>
              </a:rPr>
              <a:t>📦  Handlers · Templates HTML</a:t>
            </a:r>
            <a:endParaRPr lang="en-US" sz="1100" dirty="0"/>
          </a:p>
        </p:txBody>
      </p:sp>
      <p:sp>
        <p:nvSpPr>
          <p:cNvPr id="31" name="Shape 25"/>
          <p:cNvSpPr/>
          <p:nvPr/>
        </p:nvSpPr>
        <p:spPr>
          <a:xfrm>
            <a:off x="6903720" y="4114800"/>
            <a:ext cx="0" cy="365760"/>
          </a:xfrm>
          <a:prstGeom prst="line">
            <a:avLst/>
          </a:prstGeom>
          <a:noFill/>
          <a:ln w="19050">
            <a:solidFill>
              <a:srgbClr val="8B949E"/>
            </a:solidFill>
            <a:prstDash val="solid"/>
          </a:ln>
        </p:spPr>
        <p:txBody>
          <a:bodyPr/>
          <a:lstStyle/>
          <a:p>
            <a:endParaRPr lang="fr-FR"/>
          </a:p>
        </p:txBody>
      </p:sp>
      <p:sp>
        <p:nvSpPr>
          <p:cNvPr id="32" name="Shape 26"/>
          <p:cNvSpPr/>
          <p:nvPr/>
        </p:nvSpPr>
        <p:spPr>
          <a:xfrm>
            <a:off x="5760720" y="4480560"/>
            <a:ext cx="2286000" cy="502920"/>
          </a:xfrm>
          <a:prstGeom prst="roundRect">
            <a:avLst>
              <a:gd name="adj" fmla="val 14545"/>
            </a:avLst>
          </a:prstGeom>
          <a:solidFill>
            <a:srgbClr val="161B22"/>
          </a:solidFill>
          <a:ln w="19050">
            <a:solidFill>
              <a:srgbClr val="F7DF1E"/>
            </a:solidFill>
            <a:prstDash val="solid"/>
          </a:ln>
        </p:spPr>
        <p:txBody>
          <a:bodyPr/>
          <a:lstStyle/>
          <a:p>
            <a:endParaRPr lang="fr-FR"/>
          </a:p>
        </p:txBody>
      </p:sp>
      <p:sp>
        <p:nvSpPr>
          <p:cNvPr id="33" name="Text 27"/>
          <p:cNvSpPr/>
          <p:nvPr/>
        </p:nvSpPr>
        <p:spPr>
          <a:xfrm>
            <a:off x="5760720" y="4480560"/>
            <a:ext cx="2286000" cy="502920"/>
          </a:xfrm>
          <a:prstGeom prst="rect">
            <a:avLst/>
          </a:prstGeom>
          <a:noFill/>
          <a:ln/>
        </p:spPr>
        <p:txBody>
          <a:bodyPr wrap="square" lIns="0" tIns="0" rIns="0" bIns="0" rtlCol="0" anchor="ctr"/>
          <a:lstStyle/>
          <a:p>
            <a:pPr marL="0" indent="0" algn="ctr">
              <a:buNone/>
            </a:pPr>
            <a:r>
              <a:rPr lang="en-US" sz="1100" dirty="0">
                <a:solidFill>
                  <a:srgbClr val="FFFFFF"/>
                </a:solidFill>
              </a:rPr>
              <a:t>🗄️  Base SQL</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320040"/>
          </a:xfrm>
          <a:prstGeom prst="rect">
            <a:avLst/>
          </a:prstGeom>
          <a:noFill/>
          <a:ln/>
        </p:spPr>
        <p:txBody>
          <a:bodyPr wrap="square" lIns="0" tIns="0" rIns="0" bIns="0" rtlCol="0" anchor="ctr"/>
          <a:lstStyle/>
          <a:p>
            <a:pPr marL="0" indent="0">
              <a:buNone/>
            </a:pPr>
            <a:r>
              <a:rPr lang="en-US" sz="900" b="1" kern="0" spc="400" dirty="0">
                <a:solidFill>
                  <a:srgbClr val="00C9FF"/>
                </a:solidFill>
              </a:rPr>
              <a:t>01 — ARCHITECTURE</a:t>
            </a:r>
            <a:endParaRPr lang="en-US" sz="900" dirty="0"/>
          </a:p>
        </p:txBody>
      </p:sp>
      <p:sp>
        <p:nvSpPr>
          <p:cNvPr id="3" name="Text 1"/>
          <p:cNvSpPr/>
          <p:nvPr/>
        </p:nvSpPr>
        <p:spPr>
          <a:xfrm>
            <a:off x="457200" y="640080"/>
            <a:ext cx="64008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Routage de l'Application</a:t>
            </a:r>
            <a:endParaRPr lang="en-US" sz="3000" dirty="0"/>
          </a:p>
        </p:txBody>
      </p:sp>
      <p:sp>
        <p:nvSpPr>
          <p:cNvPr id="4" name="Shape 2"/>
          <p:cNvSpPr/>
          <p:nvPr/>
        </p:nvSpPr>
        <p:spPr>
          <a:xfrm>
            <a:off x="457200" y="1325880"/>
            <a:ext cx="8229600" cy="0"/>
          </a:xfrm>
          <a:prstGeom prst="line">
            <a:avLst/>
          </a:prstGeom>
          <a:noFill/>
          <a:ln w="12700">
            <a:solidFill>
              <a:srgbClr val="1F2937"/>
            </a:solidFill>
            <a:prstDash val="solid"/>
          </a:ln>
        </p:spPr>
        <p:txBody>
          <a:bodyPr/>
          <a:lstStyle/>
          <a:p>
            <a:endParaRPr lang="fr-FR"/>
          </a:p>
        </p:txBody>
      </p:sp>
      <p:sp>
        <p:nvSpPr>
          <p:cNvPr id="5" name="Shape 3"/>
          <p:cNvSpPr/>
          <p:nvPr/>
        </p:nvSpPr>
        <p:spPr>
          <a:xfrm>
            <a:off x="411480" y="1481328"/>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6" name="Shape 4"/>
          <p:cNvSpPr/>
          <p:nvPr/>
        </p:nvSpPr>
        <p:spPr>
          <a:xfrm>
            <a:off x="502920" y="1591056"/>
            <a:ext cx="594360" cy="274320"/>
          </a:xfrm>
          <a:prstGeom prst="roundRect">
            <a:avLst>
              <a:gd name="adj" fmla="val 13333"/>
            </a:avLst>
          </a:prstGeom>
          <a:solidFill>
            <a:srgbClr val="10B981">
              <a:alpha val="80000"/>
            </a:srgbClr>
          </a:solidFill>
          <a:ln w="12700">
            <a:solidFill>
              <a:srgbClr val="10B981"/>
            </a:solidFill>
            <a:prstDash val="solid"/>
          </a:ln>
        </p:spPr>
        <p:txBody>
          <a:bodyPr/>
          <a:lstStyle/>
          <a:p>
            <a:endParaRPr lang="fr-FR"/>
          </a:p>
        </p:txBody>
      </p:sp>
      <p:sp>
        <p:nvSpPr>
          <p:cNvPr id="7" name="Text 5"/>
          <p:cNvSpPr/>
          <p:nvPr/>
        </p:nvSpPr>
        <p:spPr>
          <a:xfrm>
            <a:off x="502920" y="1591056"/>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GET</a:t>
            </a:r>
            <a:endParaRPr lang="en-US" sz="800" dirty="0"/>
          </a:p>
        </p:txBody>
      </p:sp>
      <p:sp>
        <p:nvSpPr>
          <p:cNvPr id="8" name="Text 6"/>
          <p:cNvSpPr/>
          <p:nvPr/>
        </p:nvSpPr>
        <p:spPr>
          <a:xfrm>
            <a:off x="1170432" y="1545336"/>
            <a:ext cx="15544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a:t>
            </a:r>
            <a:endParaRPr lang="en-US" sz="1000" dirty="0"/>
          </a:p>
        </p:txBody>
      </p:sp>
      <p:sp>
        <p:nvSpPr>
          <p:cNvPr id="9" name="Text 7"/>
          <p:cNvSpPr/>
          <p:nvPr/>
        </p:nvSpPr>
        <p:spPr>
          <a:xfrm>
            <a:off x="1170432" y="1773936"/>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Page d'accueil — liste des posts</a:t>
            </a:r>
            <a:endParaRPr lang="en-US" sz="900" dirty="0"/>
          </a:p>
        </p:txBody>
      </p:sp>
      <p:sp>
        <p:nvSpPr>
          <p:cNvPr id="10" name="Shape 8"/>
          <p:cNvSpPr/>
          <p:nvPr/>
        </p:nvSpPr>
        <p:spPr>
          <a:xfrm>
            <a:off x="411480" y="2148840"/>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11" name="Shape 9"/>
          <p:cNvSpPr/>
          <p:nvPr/>
        </p:nvSpPr>
        <p:spPr>
          <a:xfrm>
            <a:off x="502920" y="2258568"/>
            <a:ext cx="594360" cy="274320"/>
          </a:xfrm>
          <a:prstGeom prst="roundRect">
            <a:avLst>
              <a:gd name="adj" fmla="val 13333"/>
            </a:avLst>
          </a:prstGeom>
          <a:solidFill>
            <a:srgbClr val="10B981">
              <a:alpha val="80000"/>
            </a:srgbClr>
          </a:solidFill>
          <a:ln w="12700">
            <a:solidFill>
              <a:srgbClr val="10B981"/>
            </a:solidFill>
            <a:prstDash val="solid"/>
          </a:ln>
        </p:spPr>
        <p:txBody>
          <a:bodyPr/>
          <a:lstStyle/>
          <a:p>
            <a:endParaRPr lang="fr-FR"/>
          </a:p>
        </p:txBody>
      </p:sp>
      <p:sp>
        <p:nvSpPr>
          <p:cNvPr id="12" name="Text 10"/>
          <p:cNvSpPr/>
          <p:nvPr/>
        </p:nvSpPr>
        <p:spPr>
          <a:xfrm>
            <a:off x="502920" y="2258568"/>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GET</a:t>
            </a:r>
            <a:endParaRPr lang="en-US" sz="800" dirty="0"/>
          </a:p>
        </p:txBody>
      </p:sp>
      <p:sp>
        <p:nvSpPr>
          <p:cNvPr id="13" name="Text 11"/>
          <p:cNvSpPr/>
          <p:nvPr/>
        </p:nvSpPr>
        <p:spPr>
          <a:xfrm>
            <a:off x="1170432" y="2212848"/>
            <a:ext cx="15544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/register</a:t>
            </a:r>
            <a:endParaRPr lang="en-US" sz="1000" dirty="0"/>
          </a:p>
        </p:txBody>
      </p:sp>
      <p:sp>
        <p:nvSpPr>
          <p:cNvPr id="14" name="Text 12"/>
          <p:cNvSpPr/>
          <p:nvPr/>
        </p:nvSpPr>
        <p:spPr>
          <a:xfrm>
            <a:off x="1170432" y="2441448"/>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Formulaire d'inscription</a:t>
            </a:r>
            <a:endParaRPr lang="en-US" sz="900" dirty="0"/>
          </a:p>
        </p:txBody>
      </p:sp>
      <p:sp>
        <p:nvSpPr>
          <p:cNvPr id="15" name="Shape 13"/>
          <p:cNvSpPr/>
          <p:nvPr/>
        </p:nvSpPr>
        <p:spPr>
          <a:xfrm>
            <a:off x="411480" y="2816352"/>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16" name="Shape 14"/>
          <p:cNvSpPr/>
          <p:nvPr/>
        </p:nvSpPr>
        <p:spPr>
          <a:xfrm>
            <a:off x="502920" y="2926080"/>
            <a:ext cx="594360" cy="274320"/>
          </a:xfrm>
          <a:prstGeom prst="roundRect">
            <a:avLst>
              <a:gd name="adj" fmla="val 13333"/>
            </a:avLst>
          </a:prstGeom>
          <a:solidFill>
            <a:srgbClr val="7C3AED">
              <a:alpha val="80000"/>
            </a:srgbClr>
          </a:solidFill>
          <a:ln w="12700">
            <a:solidFill>
              <a:srgbClr val="7C3AED"/>
            </a:solidFill>
            <a:prstDash val="solid"/>
          </a:ln>
        </p:spPr>
        <p:txBody>
          <a:bodyPr/>
          <a:lstStyle/>
          <a:p>
            <a:endParaRPr lang="fr-FR"/>
          </a:p>
        </p:txBody>
      </p:sp>
      <p:sp>
        <p:nvSpPr>
          <p:cNvPr id="17" name="Text 15"/>
          <p:cNvSpPr/>
          <p:nvPr/>
        </p:nvSpPr>
        <p:spPr>
          <a:xfrm>
            <a:off x="502920" y="2926080"/>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POST</a:t>
            </a:r>
            <a:endParaRPr lang="en-US" sz="800" dirty="0"/>
          </a:p>
        </p:txBody>
      </p:sp>
      <p:sp>
        <p:nvSpPr>
          <p:cNvPr id="18" name="Text 16"/>
          <p:cNvSpPr/>
          <p:nvPr/>
        </p:nvSpPr>
        <p:spPr>
          <a:xfrm>
            <a:off x="1170432" y="2880360"/>
            <a:ext cx="15544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/register</a:t>
            </a:r>
            <a:endParaRPr lang="en-US" sz="1000" dirty="0"/>
          </a:p>
        </p:txBody>
      </p:sp>
      <p:sp>
        <p:nvSpPr>
          <p:cNvPr id="19" name="Text 17"/>
          <p:cNvSpPr/>
          <p:nvPr/>
        </p:nvSpPr>
        <p:spPr>
          <a:xfrm>
            <a:off x="1170432" y="3108960"/>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Traitement de l'inscription</a:t>
            </a:r>
            <a:endParaRPr lang="en-US" sz="900" dirty="0"/>
          </a:p>
        </p:txBody>
      </p:sp>
      <p:sp>
        <p:nvSpPr>
          <p:cNvPr id="20" name="Shape 18"/>
          <p:cNvSpPr/>
          <p:nvPr/>
        </p:nvSpPr>
        <p:spPr>
          <a:xfrm>
            <a:off x="411480" y="3483864"/>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21" name="Shape 19"/>
          <p:cNvSpPr/>
          <p:nvPr/>
        </p:nvSpPr>
        <p:spPr>
          <a:xfrm>
            <a:off x="502920" y="3593592"/>
            <a:ext cx="594360" cy="274320"/>
          </a:xfrm>
          <a:prstGeom prst="roundRect">
            <a:avLst>
              <a:gd name="adj" fmla="val 13333"/>
            </a:avLst>
          </a:prstGeom>
          <a:solidFill>
            <a:srgbClr val="10B981">
              <a:alpha val="80000"/>
            </a:srgbClr>
          </a:solidFill>
          <a:ln w="12700">
            <a:solidFill>
              <a:srgbClr val="10B981"/>
            </a:solidFill>
            <a:prstDash val="solid"/>
          </a:ln>
        </p:spPr>
        <p:txBody>
          <a:bodyPr/>
          <a:lstStyle/>
          <a:p>
            <a:endParaRPr lang="fr-FR"/>
          </a:p>
        </p:txBody>
      </p:sp>
      <p:sp>
        <p:nvSpPr>
          <p:cNvPr id="22" name="Text 20"/>
          <p:cNvSpPr/>
          <p:nvPr/>
        </p:nvSpPr>
        <p:spPr>
          <a:xfrm>
            <a:off x="502920" y="3593592"/>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GET</a:t>
            </a:r>
            <a:endParaRPr lang="en-US" sz="800" dirty="0"/>
          </a:p>
        </p:txBody>
      </p:sp>
      <p:sp>
        <p:nvSpPr>
          <p:cNvPr id="23" name="Text 21"/>
          <p:cNvSpPr/>
          <p:nvPr/>
        </p:nvSpPr>
        <p:spPr>
          <a:xfrm>
            <a:off x="1170432" y="3547872"/>
            <a:ext cx="15544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4" name="Text 22"/>
          <p:cNvSpPr/>
          <p:nvPr/>
        </p:nvSpPr>
        <p:spPr>
          <a:xfrm>
            <a:off x="1170432" y="3776472"/>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Formulaire de connexion</a:t>
            </a:r>
            <a:endParaRPr lang="en-US" sz="900" dirty="0"/>
          </a:p>
        </p:txBody>
      </p:sp>
      <p:sp>
        <p:nvSpPr>
          <p:cNvPr id="25" name="Shape 23"/>
          <p:cNvSpPr/>
          <p:nvPr/>
        </p:nvSpPr>
        <p:spPr>
          <a:xfrm>
            <a:off x="411480" y="4151376"/>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26" name="Shape 24"/>
          <p:cNvSpPr/>
          <p:nvPr/>
        </p:nvSpPr>
        <p:spPr>
          <a:xfrm>
            <a:off x="502920" y="4261104"/>
            <a:ext cx="594360" cy="274320"/>
          </a:xfrm>
          <a:prstGeom prst="roundRect">
            <a:avLst>
              <a:gd name="adj" fmla="val 13333"/>
            </a:avLst>
          </a:prstGeom>
          <a:solidFill>
            <a:srgbClr val="7C3AED">
              <a:alpha val="80000"/>
            </a:srgbClr>
          </a:solidFill>
          <a:ln w="12700">
            <a:solidFill>
              <a:srgbClr val="7C3AED"/>
            </a:solidFill>
            <a:prstDash val="solid"/>
          </a:ln>
        </p:spPr>
        <p:txBody>
          <a:bodyPr/>
          <a:lstStyle/>
          <a:p>
            <a:endParaRPr lang="fr-FR"/>
          </a:p>
        </p:txBody>
      </p:sp>
      <p:sp>
        <p:nvSpPr>
          <p:cNvPr id="27" name="Text 25"/>
          <p:cNvSpPr/>
          <p:nvPr/>
        </p:nvSpPr>
        <p:spPr>
          <a:xfrm>
            <a:off x="502920" y="4261104"/>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POST</a:t>
            </a:r>
            <a:endParaRPr lang="en-US" sz="800" dirty="0"/>
          </a:p>
        </p:txBody>
      </p:sp>
      <p:sp>
        <p:nvSpPr>
          <p:cNvPr id="28" name="Text 26"/>
          <p:cNvSpPr/>
          <p:nvPr/>
        </p:nvSpPr>
        <p:spPr>
          <a:xfrm>
            <a:off x="1170432" y="4215384"/>
            <a:ext cx="15544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9" name="Text 27"/>
          <p:cNvSpPr/>
          <p:nvPr/>
        </p:nvSpPr>
        <p:spPr>
          <a:xfrm>
            <a:off x="1170432" y="4443984"/>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Authentification utilisateur</a:t>
            </a:r>
            <a:endParaRPr lang="en-US" sz="900" dirty="0"/>
          </a:p>
        </p:txBody>
      </p:sp>
      <p:sp>
        <p:nvSpPr>
          <p:cNvPr id="30" name="Shape 28"/>
          <p:cNvSpPr/>
          <p:nvPr/>
        </p:nvSpPr>
        <p:spPr>
          <a:xfrm>
            <a:off x="4754880" y="1481328"/>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31" name="Shape 29"/>
          <p:cNvSpPr/>
          <p:nvPr/>
        </p:nvSpPr>
        <p:spPr>
          <a:xfrm>
            <a:off x="4846320" y="1591056"/>
            <a:ext cx="594360" cy="274320"/>
          </a:xfrm>
          <a:prstGeom prst="roundRect">
            <a:avLst>
              <a:gd name="adj" fmla="val 13333"/>
            </a:avLst>
          </a:prstGeom>
          <a:solidFill>
            <a:srgbClr val="10B981">
              <a:alpha val="80000"/>
            </a:srgbClr>
          </a:solidFill>
          <a:ln w="12700">
            <a:solidFill>
              <a:srgbClr val="10B981"/>
            </a:solidFill>
            <a:prstDash val="solid"/>
          </a:ln>
        </p:spPr>
        <p:txBody>
          <a:bodyPr/>
          <a:lstStyle/>
          <a:p>
            <a:endParaRPr lang="fr-FR"/>
          </a:p>
        </p:txBody>
      </p:sp>
      <p:sp>
        <p:nvSpPr>
          <p:cNvPr id="32" name="Text 30"/>
          <p:cNvSpPr/>
          <p:nvPr/>
        </p:nvSpPr>
        <p:spPr>
          <a:xfrm>
            <a:off x="4846320" y="1591056"/>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GET</a:t>
            </a:r>
            <a:endParaRPr lang="en-US" sz="800" dirty="0"/>
          </a:p>
        </p:txBody>
      </p:sp>
      <p:sp>
        <p:nvSpPr>
          <p:cNvPr id="33" name="Text 31"/>
          <p:cNvSpPr/>
          <p:nvPr/>
        </p:nvSpPr>
        <p:spPr>
          <a:xfrm>
            <a:off x="5513832" y="1545336"/>
            <a:ext cx="20116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/post/{id}</a:t>
            </a:r>
            <a:endParaRPr lang="en-US" sz="1000" dirty="0"/>
          </a:p>
        </p:txBody>
      </p:sp>
      <p:sp>
        <p:nvSpPr>
          <p:cNvPr id="34" name="Text 32"/>
          <p:cNvSpPr/>
          <p:nvPr/>
        </p:nvSpPr>
        <p:spPr>
          <a:xfrm>
            <a:off x="5513832" y="1773936"/>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Affichage d'un post + commentaires</a:t>
            </a:r>
            <a:endParaRPr lang="en-US" sz="900" dirty="0"/>
          </a:p>
        </p:txBody>
      </p:sp>
      <p:sp>
        <p:nvSpPr>
          <p:cNvPr id="35" name="Shape 33"/>
          <p:cNvSpPr/>
          <p:nvPr/>
        </p:nvSpPr>
        <p:spPr>
          <a:xfrm>
            <a:off x="4754880" y="2148840"/>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36" name="Shape 34"/>
          <p:cNvSpPr/>
          <p:nvPr/>
        </p:nvSpPr>
        <p:spPr>
          <a:xfrm>
            <a:off x="4846320" y="2258568"/>
            <a:ext cx="594360" cy="274320"/>
          </a:xfrm>
          <a:prstGeom prst="roundRect">
            <a:avLst>
              <a:gd name="adj" fmla="val 13333"/>
            </a:avLst>
          </a:prstGeom>
          <a:solidFill>
            <a:srgbClr val="7C3AED">
              <a:alpha val="80000"/>
            </a:srgbClr>
          </a:solidFill>
          <a:ln w="12700">
            <a:solidFill>
              <a:srgbClr val="7C3AED"/>
            </a:solidFill>
            <a:prstDash val="solid"/>
          </a:ln>
        </p:spPr>
        <p:txBody>
          <a:bodyPr/>
          <a:lstStyle/>
          <a:p>
            <a:endParaRPr lang="fr-FR"/>
          </a:p>
        </p:txBody>
      </p:sp>
      <p:sp>
        <p:nvSpPr>
          <p:cNvPr id="37" name="Text 35"/>
          <p:cNvSpPr/>
          <p:nvPr/>
        </p:nvSpPr>
        <p:spPr>
          <a:xfrm>
            <a:off x="4846320" y="2258568"/>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POST</a:t>
            </a:r>
            <a:endParaRPr lang="en-US" sz="800" dirty="0"/>
          </a:p>
        </p:txBody>
      </p:sp>
      <p:sp>
        <p:nvSpPr>
          <p:cNvPr id="38" name="Text 36"/>
          <p:cNvSpPr/>
          <p:nvPr/>
        </p:nvSpPr>
        <p:spPr>
          <a:xfrm>
            <a:off x="5513832" y="2212848"/>
            <a:ext cx="20116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/post/create</a:t>
            </a:r>
            <a:endParaRPr lang="en-US" sz="1000" dirty="0"/>
          </a:p>
        </p:txBody>
      </p:sp>
      <p:sp>
        <p:nvSpPr>
          <p:cNvPr id="39" name="Text 37"/>
          <p:cNvSpPr/>
          <p:nvPr/>
        </p:nvSpPr>
        <p:spPr>
          <a:xfrm>
            <a:off x="5513832" y="2441448"/>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Création d'un nouveau post</a:t>
            </a:r>
            <a:endParaRPr lang="en-US" sz="900" dirty="0"/>
          </a:p>
        </p:txBody>
      </p:sp>
      <p:sp>
        <p:nvSpPr>
          <p:cNvPr id="40" name="Shape 38"/>
          <p:cNvSpPr/>
          <p:nvPr/>
        </p:nvSpPr>
        <p:spPr>
          <a:xfrm>
            <a:off x="4754880" y="2816352"/>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41" name="Shape 39"/>
          <p:cNvSpPr/>
          <p:nvPr/>
        </p:nvSpPr>
        <p:spPr>
          <a:xfrm>
            <a:off x="4846320" y="2926080"/>
            <a:ext cx="594360" cy="274320"/>
          </a:xfrm>
          <a:prstGeom prst="roundRect">
            <a:avLst>
              <a:gd name="adj" fmla="val 13333"/>
            </a:avLst>
          </a:prstGeom>
          <a:solidFill>
            <a:srgbClr val="7C3AED">
              <a:alpha val="80000"/>
            </a:srgbClr>
          </a:solidFill>
          <a:ln w="12700">
            <a:solidFill>
              <a:srgbClr val="7C3AED"/>
            </a:solidFill>
            <a:prstDash val="solid"/>
          </a:ln>
        </p:spPr>
        <p:txBody>
          <a:bodyPr/>
          <a:lstStyle/>
          <a:p>
            <a:endParaRPr lang="fr-FR"/>
          </a:p>
        </p:txBody>
      </p:sp>
      <p:sp>
        <p:nvSpPr>
          <p:cNvPr id="42" name="Text 40"/>
          <p:cNvSpPr/>
          <p:nvPr/>
        </p:nvSpPr>
        <p:spPr>
          <a:xfrm>
            <a:off x="4846320" y="2926080"/>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POST</a:t>
            </a:r>
            <a:endParaRPr lang="en-US" sz="800" dirty="0"/>
          </a:p>
        </p:txBody>
      </p:sp>
      <p:sp>
        <p:nvSpPr>
          <p:cNvPr id="43" name="Text 41"/>
          <p:cNvSpPr/>
          <p:nvPr/>
        </p:nvSpPr>
        <p:spPr>
          <a:xfrm>
            <a:off x="5513832" y="2880360"/>
            <a:ext cx="20116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/comment/add</a:t>
            </a:r>
            <a:endParaRPr lang="en-US" sz="1000" dirty="0"/>
          </a:p>
        </p:txBody>
      </p:sp>
      <p:sp>
        <p:nvSpPr>
          <p:cNvPr id="44" name="Text 42"/>
          <p:cNvSpPr/>
          <p:nvPr/>
        </p:nvSpPr>
        <p:spPr>
          <a:xfrm>
            <a:off x="5513832" y="3108960"/>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Ajout d'un commentaire</a:t>
            </a:r>
            <a:endParaRPr lang="en-US" sz="900" dirty="0"/>
          </a:p>
        </p:txBody>
      </p:sp>
      <p:sp>
        <p:nvSpPr>
          <p:cNvPr id="45" name="Shape 43"/>
          <p:cNvSpPr/>
          <p:nvPr/>
        </p:nvSpPr>
        <p:spPr>
          <a:xfrm>
            <a:off x="4754880" y="3483864"/>
            <a:ext cx="4160520" cy="548640"/>
          </a:xfrm>
          <a:prstGeom prst="roundRect">
            <a:avLst>
              <a:gd name="adj" fmla="val 11667"/>
            </a:avLst>
          </a:prstGeom>
          <a:solidFill>
            <a:srgbClr val="161B22"/>
          </a:solidFill>
          <a:ln w="12700">
            <a:solidFill>
              <a:srgbClr val="1F2937"/>
            </a:solidFill>
            <a:prstDash val="solid"/>
          </a:ln>
          <a:effectLst>
            <a:outerShdw blurRad="76200" dist="25400" dir="2700000" algn="bl" rotWithShape="0">
              <a:srgbClr val="000000">
                <a:alpha val="30000"/>
              </a:srgbClr>
            </a:outerShdw>
          </a:effectLst>
        </p:spPr>
        <p:txBody>
          <a:bodyPr/>
          <a:lstStyle/>
          <a:p>
            <a:endParaRPr lang="fr-FR"/>
          </a:p>
        </p:txBody>
      </p:sp>
      <p:sp>
        <p:nvSpPr>
          <p:cNvPr id="46" name="Shape 44"/>
          <p:cNvSpPr/>
          <p:nvPr/>
        </p:nvSpPr>
        <p:spPr>
          <a:xfrm>
            <a:off x="4846320" y="3593592"/>
            <a:ext cx="594360" cy="274320"/>
          </a:xfrm>
          <a:prstGeom prst="roundRect">
            <a:avLst>
              <a:gd name="adj" fmla="val 13333"/>
            </a:avLst>
          </a:prstGeom>
          <a:solidFill>
            <a:srgbClr val="F59E0B">
              <a:alpha val="80000"/>
            </a:srgbClr>
          </a:solidFill>
          <a:ln w="12700">
            <a:solidFill>
              <a:srgbClr val="F59E0B"/>
            </a:solidFill>
            <a:prstDash val="solid"/>
          </a:ln>
        </p:spPr>
        <p:txBody>
          <a:bodyPr/>
          <a:lstStyle/>
          <a:p>
            <a:endParaRPr lang="fr-FR"/>
          </a:p>
        </p:txBody>
      </p:sp>
      <p:sp>
        <p:nvSpPr>
          <p:cNvPr id="47" name="Text 45"/>
          <p:cNvSpPr/>
          <p:nvPr/>
        </p:nvSpPr>
        <p:spPr>
          <a:xfrm>
            <a:off x="4846320" y="3593592"/>
            <a:ext cx="594360" cy="274320"/>
          </a:xfrm>
          <a:prstGeom prst="rect">
            <a:avLst/>
          </a:prstGeom>
          <a:noFill/>
          <a:ln/>
        </p:spPr>
        <p:txBody>
          <a:bodyPr wrap="square" lIns="0" tIns="0" rIns="0" bIns="0" rtlCol="0" anchor="ctr"/>
          <a:lstStyle/>
          <a:p>
            <a:pPr marL="0" indent="0" algn="ctr">
              <a:buNone/>
            </a:pPr>
            <a:r>
              <a:rPr lang="en-US" sz="800" b="1" dirty="0">
                <a:solidFill>
                  <a:srgbClr val="0D1117"/>
                </a:solidFill>
              </a:rPr>
              <a:t>POST</a:t>
            </a:r>
            <a:endParaRPr lang="en-US" sz="800" dirty="0"/>
          </a:p>
        </p:txBody>
      </p:sp>
      <p:sp>
        <p:nvSpPr>
          <p:cNvPr id="48" name="Text 46"/>
          <p:cNvSpPr/>
          <p:nvPr/>
        </p:nvSpPr>
        <p:spPr>
          <a:xfrm>
            <a:off x="5513832" y="3547872"/>
            <a:ext cx="2011680" cy="228600"/>
          </a:xfrm>
          <a:prstGeom prst="rect">
            <a:avLst/>
          </a:prstGeom>
          <a:noFill/>
          <a:ln/>
        </p:spPr>
        <p:txBody>
          <a:bodyPr wrap="square" lIns="0" tIns="0" rIns="0" bIns="0" rtlCol="0" anchor="ctr"/>
          <a:lstStyle/>
          <a:p>
            <a:pPr marL="0" indent="0">
              <a:buNone/>
            </a:pPr>
            <a:r>
              <a:rPr lang="en-US" sz="1000" b="1" dirty="0">
                <a:solidFill>
                  <a:srgbClr val="FFFFFF"/>
                </a:solidFill>
                <a:latin typeface="Courier New" pitchFamily="34" charset="0"/>
                <a:ea typeface="Courier New" pitchFamily="34" charset="-122"/>
                <a:cs typeface="Courier New" pitchFamily="34" charset="-120"/>
              </a:rPr>
              <a:t>/like</a:t>
            </a:r>
            <a:endParaRPr lang="en-US" sz="1000" dirty="0"/>
          </a:p>
        </p:txBody>
      </p:sp>
      <p:sp>
        <p:nvSpPr>
          <p:cNvPr id="49" name="Text 47"/>
          <p:cNvSpPr/>
          <p:nvPr/>
        </p:nvSpPr>
        <p:spPr>
          <a:xfrm>
            <a:off x="5513832" y="3776472"/>
            <a:ext cx="3291840" cy="201168"/>
          </a:xfrm>
          <a:prstGeom prst="rect">
            <a:avLst/>
          </a:prstGeom>
          <a:noFill/>
          <a:ln/>
        </p:spPr>
        <p:txBody>
          <a:bodyPr wrap="square" lIns="0" tIns="0" rIns="0" bIns="0" rtlCol="0" anchor="ctr"/>
          <a:lstStyle/>
          <a:p>
            <a:pPr marL="0" indent="0">
              <a:buNone/>
            </a:pPr>
            <a:r>
              <a:rPr lang="en-US" sz="900" dirty="0">
                <a:solidFill>
                  <a:srgbClr val="8B949E"/>
                </a:solidFill>
                <a:latin typeface="Calibri" pitchFamily="34" charset="0"/>
                <a:ea typeface="Calibri" pitchFamily="34" charset="-122"/>
                <a:cs typeface="Calibri" pitchFamily="34" charset="-120"/>
              </a:rPr>
              <a:t>Like / Dislike sur post ou commentaire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6858000" y="3200400"/>
            <a:ext cx="3657600" cy="3657600"/>
          </a:xfrm>
          <a:prstGeom prst="ellipse">
            <a:avLst/>
          </a:prstGeom>
          <a:solidFill>
            <a:srgbClr val="7C3AED">
              <a:alpha val="12000"/>
            </a:srgbClr>
          </a:solidFill>
          <a:ln w="12700">
            <a:solidFill>
              <a:srgbClr val="7C3AED">
                <a:alpha val="25000"/>
              </a:srgbClr>
            </a:solidFill>
            <a:prstDash val="solid"/>
          </a:ln>
        </p:spPr>
        <p:txBody>
          <a:bodyPr/>
          <a:lstStyle/>
          <a:p>
            <a:endParaRPr lang="fr-FR"/>
          </a:p>
        </p:txBody>
      </p:sp>
      <p:sp>
        <p:nvSpPr>
          <p:cNvPr id="3" name="Text 1"/>
          <p:cNvSpPr/>
          <p:nvPr/>
        </p:nvSpPr>
        <p:spPr>
          <a:xfrm>
            <a:off x="457200" y="320040"/>
            <a:ext cx="8229600" cy="320040"/>
          </a:xfrm>
          <a:prstGeom prst="rect">
            <a:avLst/>
          </a:prstGeom>
          <a:noFill/>
          <a:ln/>
        </p:spPr>
        <p:txBody>
          <a:bodyPr wrap="square" lIns="0" tIns="0" rIns="0" bIns="0" rtlCol="0" anchor="ctr"/>
          <a:lstStyle/>
          <a:p>
            <a:pPr marL="0" indent="0">
              <a:buNone/>
            </a:pPr>
            <a:r>
              <a:rPr lang="en-US" sz="900" b="1" kern="0" spc="400" dirty="0">
                <a:solidFill>
                  <a:srgbClr val="7C3AED"/>
                </a:solidFill>
              </a:rPr>
              <a:t>02 — DÉMONSTRATION</a:t>
            </a:r>
            <a:endParaRPr lang="en-US" sz="900" dirty="0"/>
          </a:p>
        </p:txBody>
      </p:sp>
      <p:sp>
        <p:nvSpPr>
          <p:cNvPr id="4" name="Text 2"/>
          <p:cNvSpPr/>
          <p:nvPr/>
        </p:nvSpPr>
        <p:spPr>
          <a:xfrm>
            <a:off x="457200" y="640080"/>
            <a:ext cx="68580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Fonctionnalités Obligatoires</a:t>
            </a:r>
            <a:endParaRPr lang="en-US" sz="3000" dirty="0"/>
          </a:p>
        </p:txBody>
      </p:sp>
      <p:sp>
        <p:nvSpPr>
          <p:cNvPr id="5" name="Shape 3"/>
          <p:cNvSpPr/>
          <p:nvPr/>
        </p:nvSpPr>
        <p:spPr>
          <a:xfrm>
            <a:off x="457200" y="1325880"/>
            <a:ext cx="8229600" cy="0"/>
          </a:xfrm>
          <a:prstGeom prst="line">
            <a:avLst/>
          </a:prstGeom>
          <a:noFill/>
          <a:ln w="12700">
            <a:solidFill>
              <a:srgbClr val="1F2937"/>
            </a:solidFill>
            <a:prstDash val="solid"/>
          </a:ln>
        </p:spPr>
        <p:txBody>
          <a:bodyPr/>
          <a:lstStyle/>
          <a:p>
            <a:endParaRPr lang="fr-FR"/>
          </a:p>
        </p:txBody>
      </p:sp>
      <p:sp>
        <p:nvSpPr>
          <p:cNvPr id="6" name="Shape 4"/>
          <p:cNvSpPr/>
          <p:nvPr/>
        </p:nvSpPr>
        <p:spPr>
          <a:xfrm>
            <a:off x="411480" y="1463040"/>
            <a:ext cx="4023360" cy="960120"/>
          </a:xfrm>
          <a:prstGeom prst="roundRect">
            <a:avLst>
              <a:gd name="adj" fmla="val 9524"/>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7" name="Image 0" descr="preencoded.png"/>
          <p:cNvPicPr>
            <a:picLocks noChangeAspect="1"/>
          </p:cNvPicPr>
          <p:nvPr/>
        </p:nvPicPr>
        <p:blipFill>
          <a:blip r:embed="rId3"/>
          <a:stretch>
            <a:fillRect/>
          </a:stretch>
        </p:blipFill>
        <p:spPr>
          <a:xfrm>
            <a:off x="594360" y="1691640"/>
            <a:ext cx="384048" cy="384048"/>
          </a:xfrm>
          <a:prstGeom prst="rect">
            <a:avLst/>
          </a:prstGeom>
        </p:spPr>
      </p:pic>
      <p:sp>
        <p:nvSpPr>
          <p:cNvPr id="8" name="Text 5"/>
          <p:cNvSpPr/>
          <p:nvPr/>
        </p:nvSpPr>
        <p:spPr>
          <a:xfrm>
            <a:off x="1097280" y="1554480"/>
            <a:ext cx="324612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Authentification</a:t>
            </a:r>
            <a:endParaRPr lang="en-US" sz="1300" dirty="0"/>
          </a:p>
        </p:txBody>
      </p:sp>
      <p:sp>
        <p:nvSpPr>
          <p:cNvPr id="9" name="Text 6"/>
          <p:cNvSpPr/>
          <p:nvPr/>
        </p:nvSpPr>
        <p:spPr>
          <a:xfrm>
            <a:off x="1097280" y="1920240"/>
            <a:ext cx="3246120" cy="41148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Inscription · Connexion · Déconnexion · Sessions sécurisées</a:t>
            </a:r>
            <a:endParaRPr lang="en-US" sz="1000" dirty="0"/>
          </a:p>
        </p:txBody>
      </p:sp>
      <p:sp>
        <p:nvSpPr>
          <p:cNvPr id="10" name="Shape 7"/>
          <p:cNvSpPr/>
          <p:nvPr/>
        </p:nvSpPr>
        <p:spPr>
          <a:xfrm>
            <a:off x="4709160" y="1463040"/>
            <a:ext cx="4023360" cy="960120"/>
          </a:xfrm>
          <a:prstGeom prst="roundRect">
            <a:avLst>
              <a:gd name="adj" fmla="val 9524"/>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1" name="Image 1" descr="preencoded.png"/>
          <p:cNvPicPr>
            <a:picLocks noChangeAspect="1"/>
          </p:cNvPicPr>
          <p:nvPr/>
        </p:nvPicPr>
        <p:blipFill>
          <a:blip r:embed="rId4"/>
          <a:stretch>
            <a:fillRect/>
          </a:stretch>
        </p:blipFill>
        <p:spPr>
          <a:xfrm>
            <a:off x="4892040" y="1691640"/>
            <a:ext cx="384048" cy="384048"/>
          </a:xfrm>
          <a:prstGeom prst="rect">
            <a:avLst/>
          </a:prstGeom>
        </p:spPr>
      </p:pic>
      <p:sp>
        <p:nvSpPr>
          <p:cNvPr id="12" name="Text 8"/>
          <p:cNvSpPr/>
          <p:nvPr/>
        </p:nvSpPr>
        <p:spPr>
          <a:xfrm>
            <a:off x="5394960" y="1554480"/>
            <a:ext cx="324612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Posts &amp; Commentaires</a:t>
            </a:r>
            <a:endParaRPr lang="en-US" sz="1300" dirty="0"/>
          </a:p>
        </p:txBody>
      </p:sp>
      <p:sp>
        <p:nvSpPr>
          <p:cNvPr id="13" name="Text 9"/>
          <p:cNvSpPr/>
          <p:nvPr/>
        </p:nvSpPr>
        <p:spPr>
          <a:xfrm>
            <a:off x="5394960" y="1920240"/>
            <a:ext cx="3246120" cy="41148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Création · Affichage · Réponses imbriquées</a:t>
            </a:r>
            <a:endParaRPr lang="en-US" sz="1000" dirty="0"/>
          </a:p>
        </p:txBody>
      </p:sp>
      <p:sp>
        <p:nvSpPr>
          <p:cNvPr id="14" name="Shape 10"/>
          <p:cNvSpPr/>
          <p:nvPr/>
        </p:nvSpPr>
        <p:spPr>
          <a:xfrm>
            <a:off x="411480" y="2606040"/>
            <a:ext cx="4023360" cy="960120"/>
          </a:xfrm>
          <a:prstGeom prst="roundRect">
            <a:avLst>
              <a:gd name="adj" fmla="val 9524"/>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5" name="Image 2" descr="preencoded.png"/>
          <p:cNvPicPr>
            <a:picLocks noChangeAspect="1"/>
          </p:cNvPicPr>
          <p:nvPr/>
        </p:nvPicPr>
        <p:blipFill>
          <a:blip r:embed="rId5"/>
          <a:stretch>
            <a:fillRect/>
          </a:stretch>
        </p:blipFill>
        <p:spPr>
          <a:xfrm>
            <a:off x="594360" y="2834640"/>
            <a:ext cx="384048" cy="384048"/>
          </a:xfrm>
          <a:prstGeom prst="rect">
            <a:avLst/>
          </a:prstGeom>
        </p:spPr>
      </p:pic>
      <p:sp>
        <p:nvSpPr>
          <p:cNvPr id="16" name="Text 11"/>
          <p:cNvSpPr/>
          <p:nvPr/>
        </p:nvSpPr>
        <p:spPr>
          <a:xfrm>
            <a:off x="1097280" y="2697480"/>
            <a:ext cx="324612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Likes / Dislikes / Edit </a:t>
            </a:r>
            <a:endParaRPr lang="en-US" sz="1300" dirty="0"/>
          </a:p>
        </p:txBody>
      </p:sp>
      <p:sp>
        <p:nvSpPr>
          <p:cNvPr id="17" name="Text 12"/>
          <p:cNvSpPr/>
          <p:nvPr/>
        </p:nvSpPr>
        <p:spPr>
          <a:xfrm>
            <a:off x="1097280" y="3063240"/>
            <a:ext cx="3246120" cy="411480"/>
          </a:xfrm>
          <a:prstGeom prst="rect">
            <a:avLst/>
          </a:prstGeom>
          <a:noFill/>
          <a:ln/>
        </p:spPr>
        <p:txBody>
          <a:bodyPr wrap="square" lIns="0" tIns="0" rIns="0" bIns="0" rtlCol="0" anchor="ctr"/>
          <a:lstStyle/>
          <a:p>
            <a:pPr marL="0" indent="0">
              <a:buNone/>
            </a:pPr>
            <a:r>
              <a:rPr lang="en-US" sz="1000" dirty="0" err="1">
                <a:solidFill>
                  <a:srgbClr val="8B949E"/>
                </a:solidFill>
                <a:latin typeface="Calibri" pitchFamily="34" charset="0"/>
                <a:ea typeface="Calibri" pitchFamily="34" charset="-122"/>
                <a:cs typeface="Calibri" pitchFamily="34" charset="-120"/>
              </a:rPr>
              <a:t>Intéractions</a:t>
            </a:r>
            <a:r>
              <a:rPr lang="en-US" sz="1000" dirty="0">
                <a:solidFill>
                  <a:srgbClr val="8B949E"/>
                </a:solidFill>
                <a:latin typeface="Calibri" pitchFamily="34" charset="0"/>
                <a:ea typeface="Calibri" pitchFamily="34" charset="-122"/>
                <a:cs typeface="Calibri" pitchFamily="34" charset="-120"/>
              </a:rPr>
              <a:t> dans le topic · Compteurs dynamiques</a:t>
            </a:r>
            <a:endParaRPr lang="en-US" sz="1000" dirty="0"/>
          </a:p>
        </p:txBody>
      </p:sp>
      <p:sp>
        <p:nvSpPr>
          <p:cNvPr id="18" name="Shape 13"/>
          <p:cNvSpPr/>
          <p:nvPr/>
        </p:nvSpPr>
        <p:spPr>
          <a:xfrm>
            <a:off x="4709160" y="2606040"/>
            <a:ext cx="4023360" cy="960120"/>
          </a:xfrm>
          <a:prstGeom prst="roundRect">
            <a:avLst>
              <a:gd name="adj" fmla="val 9524"/>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9" name="Image 3" descr="preencoded.png"/>
          <p:cNvPicPr>
            <a:picLocks noChangeAspect="1"/>
          </p:cNvPicPr>
          <p:nvPr/>
        </p:nvPicPr>
        <p:blipFill>
          <a:blip r:embed="rId6"/>
          <a:stretch>
            <a:fillRect/>
          </a:stretch>
        </p:blipFill>
        <p:spPr>
          <a:xfrm>
            <a:off x="4892040" y="2834640"/>
            <a:ext cx="384048" cy="384048"/>
          </a:xfrm>
          <a:prstGeom prst="rect">
            <a:avLst/>
          </a:prstGeom>
        </p:spPr>
      </p:pic>
      <p:sp>
        <p:nvSpPr>
          <p:cNvPr id="20" name="Text 14"/>
          <p:cNvSpPr/>
          <p:nvPr/>
        </p:nvSpPr>
        <p:spPr>
          <a:xfrm>
            <a:off x="5394960" y="2697480"/>
            <a:ext cx="324612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Filtrage &amp; Catégories</a:t>
            </a:r>
            <a:endParaRPr lang="en-US" sz="1300" dirty="0"/>
          </a:p>
        </p:txBody>
      </p:sp>
      <p:sp>
        <p:nvSpPr>
          <p:cNvPr id="21" name="Text 15"/>
          <p:cNvSpPr/>
          <p:nvPr/>
        </p:nvSpPr>
        <p:spPr>
          <a:xfrm>
            <a:off x="5394960" y="3063240"/>
            <a:ext cx="3246120" cy="41148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Navigation par catégorie · Filtres utilisateur</a:t>
            </a:r>
            <a:endParaRPr lang="en-US" sz="1000" dirty="0"/>
          </a:p>
        </p:txBody>
      </p:sp>
      <p:sp>
        <p:nvSpPr>
          <p:cNvPr id="22" name="Shape 16"/>
          <p:cNvSpPr/>
          <p:nvPr/>
        </p:nvSpPr>
        <p:spPr>
          <a:xfrm>
            <a:off x="411480" y="3749040"/>
            <a:ext cx="4023360" cy="960120"/>
          </a:xfrm>
          <a:prstGeom prst="roundRect">
            <a:avLst>
              <a:gd name="adj" fmla="val 9524"/>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23" name="Image 4" descr="preencoded.png"/>
          <p:cNvPicPr>
            <a:picLocks noChangeAspect="1"/>
          </p:cNvPicPr>
          <p:nvPr/>
        </p:nvPicPr>
        <p:blipFill>
          <a:blip r:embed="rId7"/>
          <a:stretch>
            <a:fillRect/>
          </a:stretch>
        </p:blipFill>
        <p:spPr>
          <a:xfrm>
            <a:off x="594360" y="3977640"/>
            <a:ext cx="384048" cy="384048"/>
          </a:xfrm>
          <a:prstGeom prst="rect">
            <a:avLst/>
          </a:prstGeom>
        </p:spPr>
      </p:pic>
      <p:sp>
        <p:nvSpPr>
          <p:cNvPr id="24" name="Text 17"/>
          <p:cNvSpPr/>
          <p:nvPr/>
        </p:nvSpPr>
        <p:spPr>
          <a:xfrm>
            <a:off x="1097280" y="3840480"/>
            <a:ext cx="324612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Gestion des rôles</a:t>
            </a:r>
            <a:endParaRPr lang="en-US" sz="1300" dirty="0"/>
          </a:p>
        </p:txBody>
      </p:sp>
      <p:sp>
        <p:nvSpPr>
          <p:cNvPr id="25" name="Text 18"/>
          <p:cNvSpPr/>
          <p:nvPr/>
        </p:nvSpPr>
        <p:spPr>
          <a:xfrm>
            <a:off x="1097280" y="4206240"/>
            <a:ext cx="3246120" cy="41148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Utilisateur · Modérateur · Admin</a:t>
            </a:r>
            <a:endParaRPr lang="en-US" sz="1000" dirty="0"/>
          </a:p>
        </p:txBody>
      </p:sp>
      <p:sp>
        <p:nvSpPr>
          <p:cNvPr id="26" name="Shape 19"/>
          <p:cNvSpPr/>
          <p:nvPr/>
        </p:nvSpPr>
        <p:spPr>
          <a:xfrm>
            <a:off x="4709160" y="3749040"/>
            <a:ext cx="4023360" cy="960120"/>
          </a:xfrm>
          <a:prstGeom prst="roundRect">
            <a:avLst>
              <a:gd name="adj" fmla="val 9524"/>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27" name="Image 5" descr="preencoded.png"/>
          <p:cNvPicPr>
            <a:picLocks noChangeAspect="1"/>
          </p:cNvPicPr>
          <p:nvPr/>
        </p:nvPicPr>
        <p:blipFill>
          <a:blip r:embed="rId8"/>
          <a:stretch>
            <a:fillRect/>
          </a:stretch>
        </p:blipFill>
        <p:spPr>
          <a:xfrm>
            <a:off x="4892040" y="3977640"/>
            <a:ext cx="384048" cy="384048"/>
          </a:xfrm>
          <a:prstGeom prst="rect">
            <a:avLst/>
          </a:prstGeom>
        </p:spPr>
      </p:pic>
      <p:sp>
        <p:nvSpPr>
          <p:cNvPr id="28" name="Text 20"/>
          <p:cNvSpPr/>
          <p:nvPr/>
        </p:nvSpPr>
        <p:spPr>
          <a:xfrm>
            <a:off x="5394960" y="3840480"/>
            <a:ext cx="3246120" cy="34747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UI Responsive</a:t>
            </a:r>
            <a:endParaRPr lang="en-US" sz="1300" dirty="0"/>
          </a:p>
        </p:txBody>
      </p:sp>
      <p:sp>
        <p:nvSpPr>
          <p:cNvPr id="29" name="Text 21"/>
          <p:cNvSpPr/>
          <p:nvPr/>
        </p:nvSpPr>
        <p:spPr>
          <a:xfrm>
            <a:off x="5394960" y="4206240"/>
            <a:ext cx="3246120" cy="41148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Interface fluide sur desktop et mobile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320040"/>
          </a:xfrm>
          <a:prstGeom prst="rect">
            <a:avLst/>
          </a:prstGeom>
          <a:noFill/>
          <a:ln/>
        </p:spPr>
        <p:txBody>
          <a:bodyPr wrap="square" lIns="0" tIns="0" rIns="0" bIns="0" rtlCol="0" anchor="ctr"/>
          <a:lstStyle/>
          <a:p>
            <a:pPr marL="0" indent="0">
              <a:buNone/>
            </a:pPr>
            <a:r>
              <a:rPr lang="en-US" sz="900" b="1" kern="0" spc="400" dirty="0">
                <a:solidFill>
                  <a:srgbClr val="F59E0B"/>
                </a:solidFill>
              </a:rPr>
              <a:t>02 — BONUS</a:t>
            </a:r>
            <a:endParaRPr lang="en-US" sz="900" dirty="0"/>
          </a:p>
        </p:txBody>
      </p:sp>
      <p:sp>
        <p:nvSpPr>
          <p:cNvPr id="3" name="Text 1"/>
          <p:cNvSpPr/>
          <p:nvPr/>
        </p:nvSpPr>
        <p:spPr>
          <a:xfrm>
            <a:off x="457200" y="640080"/>
            <a:ext cx="64008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Fonctionnalités Bonus</a:t>
            </a:r>
            <a:endParaRPr lang="en-US" sz="3000" dirty="0"/>
          </a:p>
        </p:txBody>
      </p:sp>
      <p:sp>
        <p:nvSpPr>
          <p:cNvPr id="4" name="Shape 2"/>
          <p:cNvSpPr/>
          <p:nvPr/>
        </p:nvSpPr>
        <p:spPr>
          <a:xfrm>
            <a:off x="457200" y="1325880"/>
            <a:ext cx="8229600" cy="0"/>
          </a:xfrm>
          <a:prstGeom prst="line">
            <a:avLst/>
          </a:prstGeom>
          <a:noFill/>
          <a:ln w="12700">
            <a:solidFill>
              <a:srgbClr val="1F2937"/>
            </a:solidFill>
            <a:prstDash val="solid"/>
          </a:ln>
        </p:spPr>
        <p:txBody>
          <a:bodyPr/>
          <a:lstStyle/>
          <a:p>
            <a:endParaRPr lang="fr-FR"/>
          </a:p>
        </p:txBody>
      </p:sp>
      <p:sp>
        <p:nvSpPr>
          <p:cNvPr id="5" name="Shape 3"/>
          <p:cNvSpPr/>
          <p:nvPr/>
        </p:nvSpPr>
        <p:spPr>
          <a:xfrm>
            <a:off x="457200" y="1463040"/>
            <a:ext cx="2194560" cy="338328"/>
          </a:xfrm>
          <a:prstGeom prst="roundRect">
            <a:avLst>
              <a:gd name="adj" fmla="val 16216"/>
            </a:avLst>
          </a:prstGeom>
          <a:solidFill>
            <a:srgbClr val="F59E0B">
              <a:alpha val="75000"/>
            </a:srgbClr>
          </a:solidFill>
          <a:ln w="12700">
            <a:solidFill>
              <a:srgbClr val="F59E0B"/>
            </a:solidFill>
            <a:prstDash val="solid"/>
          </a:ln>
        </p:spPr>
        <p:txBody>
          <a:bodyPr/>
          <a:lstStyle/>
          <a:p>
            <a:endParaRPr lang="fr-FR"/>
          </a:p>
        </p:txBody>
      </p:sp>
      <p:sp>
        <p:nvSpPr>
          <p:cNvPr id="6" name="Text 4"/>
          <p:cNvSpPr/>
          <p:nvPr/>
        </p:nvSpPr>
        <p:spPr>
          <a:xfrm>
            <a:off x="457200" y="1463040"/>
            <a:ext cx="2194560" cy="338328"/>
          </a:xfrm>
          <a:prstGeom prst="rect">
            <a:avLst/>
          </a:prstGeom>
          <a:noFill/>
          <a:ln/>
        </p:spPr>
        <p:txBody>
          <a:bodyPr wrap="square" lIns="0" tIns="0" rIns="0" bIns="0" rtlCol="0" anchor="ctr"/>
          <a:lstStyle/>
          <a:p>
            <a:pPr marL="0" indent="0" algn="ctr">
              <a:buNone/>
            </a:pPr>
            <a:r>
              <a:rPr lang="en-US" sz="900" b="1" dirty="0">
                <a:solidFill>
                  <a:srgbClr val="0D1117"/>
                </a:solidFill>
              </a:rPr>
              <a:t>✦ BONUS IMPLÉMENTÉS</a:t>
            </a:r>
            <a:endParaRPr lang="en-US" sz="900" dirty="0"/>
          </a:p>
        </p:txBody>
      </p:sp>
      <p:sp>
        <p:nvSpPr>
          <p:cNvPr id="7" name="Shape 5"/>
          <p:cNvSpPr/>
          <p:nvPr/>
        </p:nvSpPr>
        <p:spPr>
          <a:xfrm>
            <a:off x="411480" y="1965960"/>
            <a:ext cx="8321040" cy="621792"/>
          </a:xfrm>
          <a:prstGeom prst="roundRect">
            <a:avLst>
              <a:gd name="adj" fmla="val 11765"/>
            </a:avLst>
          </a:prstGeom>
          <a:solidFill>
            <a:srgbClr val="161B22"/>
          </a:solidFill>
          <a:ln w="12700">
            <a:solidFill>
              <a:srgbClr val="EF4444"/>
            </a:solidFill>
            <a:prstDash val="solid"/>
          </a:ln>
          <a:effectLst>
            <a:outerShdw blurRad="152400" dist="38100" dir="2700000" algn="bl" rotWithShape="0">
              <a:srgbClr val="000000">
                <a:alpha val="35000"/>
              </a:srgbClr>
            </a:outerShdw>
          </a:effectLst>
        </p:spPr>
        <p:txBody>
          <a:bodyPr/>
          <a:lstStyle/>
          <a:p>
            <a:endParaRPr lang="fr-FR"/>
          </a:p>
        </p:txBody>
      </p:sp>
      <p:pic>
        <p:nvPicPr>
          <p:cNvPr id="8" name="Image 0" descr="preencoded.png"/>
          <p:cNvPicPr>
            <a:picLocks noChangeAspect="1"/>
          </p:cNvPicPr>
          <p:nvPr/>
        </p:nvPicPr>
        <p:blipFill>
          <a:blip r:embed="rId3"/>
          <a:stretch>
            <a:fillRect/>
          </a:stretch>
        </p:blipFill>
        <p:spPr>
          <a:xfrm>
            <a:off x="640080" y="2093976"/>
            <a:ext cx="365760" cy="365760"/>
          </a:xfrm>
          <a:prstGeom prst="rect">
            <a:avLst/>
          </a:prstGeom>
        </p:spPr>
      </p:pic>
      <p:sp>
        <p:nvSpPr>
          <p:cNvPr id="9" name="Text 6"/>
          <p:cNvSpPr/>
          <p:nvPr/>
        </p:nvSpPr>
        <p:spPr>
          <a:xfrm>
            <a:off x="1143000" y="2020824"/>
            <a:ext cx="41148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Système de modération</a:t>
            </a:r>
            <a:endParaRPr lang="en-US" sz="1300" dirty="0"/>
          </a:p>
        </p:txBody>
      </p:sp>
      <p:sp>
        <p:nvSpPr>
          <p:cNvPr id="10" name="Text 7"/>
          <p:cNvSpPr/>
          <p:nvPr/>
        </p:nvSpPr>
        <p:spPr>
          <a:xfrm>
            <a:off x="1143000" y="2286000"/>
            <a:ext cx="7132320" cy="256032"/>
          </a:xfrm>
          <a:prstGeom prst="rect">
            <a:avLst/>
          </a:prstGeom>
          <a:noFill/>
          <a:ln/>
        </p:spPr>
        <p:txBody>
          <a:bodyPr wrap="square" lIns="0" tIns="0" rIns="0" bIns="0" rtlCol="0" anchor="ctr"/>
          <a:lstStyle/>
          <a:p>
            <a:r>
              <a:rPr lang="en-US" sz="1000" dirty="0">
                <a:solidFill>
                  <a:srgbClr val="8B949E"/>
                </a:solidFill>
                <a:latin typeface="Calibri" pitchFamily="34" charset="0"/>
                <a:ea typeface="Calibri" pitchFamily="34" charset="-122"/>
                <a:cs typeface="Calibri" pitchFamily="34" charset="-120"/>
              </a:rPr>
              <a:t>Ban </a:t>
            </a:r>
            <a:r>
              <a:rPr lang="en-US" sz="1000" dirty="0" err="1">
                <a:solidFill>
                  <a:srgbClr val="8B949E"/>
                </a:solidFill>
                <a:latin typeface="Calibri" pitchFamily="34" charset="0"/>
                <a:ea typeface="Calibri" pitchFamily="34" charset="-122"/>
                <a:cs typeface="Calibri" pitchFamily="34" charset="-120"/>
              </a:rPr>
              <a:t>utilisateur</a:t>
            </a:r>
            <a:r>
              <a:rPr lang="en-US" sz="1000" dirty="0">
                <a:solidFill>
                  <a:srgbClr val="8B949E"/>
                </a:solidFill>
                <a:latin typeface="Calibri" pitchFamily="34" charset="0"/>
                <a:ea typeface="Calibri" pitchFamily="34" charset="-122"/>
                <a:cs typeface="Calibri" pitchFamily="34" charset="-120"/>
              </a:rPr>
              <a:t> · Suppression / Modification messages ·  Actions admin en temps réel</a:t>
            </a:r>
            <a:endParaRPr lang="en-US" sz="1000" dirty="0"/>
          </a:p>
        </p:txBody>
      </p:sp>
      <p:sp>
        <p:nvSpPr>
          <p:cNvPr id="11" name="Shape 8"/>
          <p:cNvSpPr/>
          <p:nvPr/>
        </p:nvSpPr>
        <p:spPr>
          <a:xfrm>
            <a:off x="411480" y="2724912"/>
            <a:ext cx="8321040" cy="621792"/>
          </a:xfrm>
          <a:prstGeom prst="roundRect">
            <a:avLst>
              <a:gd name="adj" fmla="val 11765"/>
            </a:avLst>
          </a:prstGeom>
          <a:solidFill>
            <a:srgbClr val="161B22"/>
          </a:solidFill>
          <a:ln w="12700">
            <a:solidFill>
              <a:srgbClr val="F59E0B"/>
            </a:solidFill>
            <a:prstDash val="solid"/>
          </a:ln>
          <a:effectLst>
            <a:outerShdw blurRad="152400" dist="38100" dir="2700000" algn="bl" rotWithShape="0">
              <a:srgbClr val="000000">
                <a:alpha val="35000"/>
              </a:srgbClr>
            </a:outerShdw>
          </a:effectLst>
        </p:spPr>
        <p:txBody>
          <a:bodyPr/>
          <a:lstStyle/>
          <a:p>
            <a:endParaRPr lang="fr-FR"/>
          </a:p>
        </p:txBody>
      </p:sp>
      <p:pic>
        <p:nvPicPr>
          <p:cNvPr id="12" name="Image 1" descr="preencoded.png"/>
          <p:cNvPicPr>
            <a:picLocks noChangeAspect="1"/>
          </p:cNvPicPr>
          <p:nvPr/>
        </p:nvPicPr>
        <p:blipFill>
          <a:blip r:embed="rId4"/>
          <a:stretch>
            <a:fillRect/>
          </a:stretch>
        </p:blipFill>
        <p:spPr>
          <a:xfrm>
            <a:off x="640080" y="2852928"/>
            <a:ext cx="365760" cy="365760"/>
          </a:xfrm>
          <a:prstGeom prst="rect">
            <a:avLst/>
          </a:prstGeom>
        </p:spPr>
      </p:pic>
      <p:sp>
        <p:nvSpPr>
          <p:cNvPr id="13" name="Text 9"/>
          <p:cNvSpPr/>
          <p:nvPr/>
        </p:nvSpPr>
        <p:spPr>
          <a:xfrm>
            <a:off x="1143000" y="2779776"/>
            <a:ext cx="41148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Profil utilisateur</a:t>
            </a:r>
            <a:endParaRPr lang="en-US" sz="1300" dirty="0"/>
          </a:p>
        </p:txBody>
      </p:sp>
      <p:sp>
        <p:nvSpPr>
          <p:cNvPr id="14" name="Text 10"/>
          <p:cNvSpPr/>
          <p:nvPr/>
        </p:nvSpPr>
        <p:spPr>
          <a:xfrm>
            <a:off x="1143000" y="3044952"/>
            <a:ext cx="7132320" cy="256032"/>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Page profil · Historique des posts et votes</a:t>
            </a:r>
            <a:endParaRPr lang="en-US" sz="1000" dirty="0"/>
          </a:p>
        </p:txBody>
      </p:sp>
      <p:sp>
        <p:nvSpPr>
          <p:cNvPr id="15" name="Shape 11"/>
          <p:cNvSpPr/>
          <p:nvPr/>
        </p:nvSpPr>
        <p:spPr>
          <a:xfrm>
            <a:off x="411480" y="3483864"/>
            <a:ext cx="8321040" cy="621792"/>
          </a:xfrm>
          <a:prstGeom prst="roundRect">
            <a:avLst>
              <a:gd name="adj" fmla="val 11765"/>
            </a:avLst>
          </a:prstGeom>
          <a:solidFill>
            <a:srgbClr val="161B22"/>
          </a:solidFill>
          <a:ln w="12700">
            <a:solidFill>
              <a:srgbClr val="00C9FF"/>
            </a:solidFill>
            <a:prstDash val="solid"/>
          </a:ln>
          <a:effectLst>
            <a:outerShdw blurRad="152400" dist="38100" dir="2700000" algn="bl" rotWithShape="0">
              <a:srgbClr val="000000">
                <a:alpha val="35000"/>
              </a:srgbClr>
            </a:outerShdw>
          </a:effectLst>
        </p:spPr>
        <p:txBody>
          <a:bodyPr/>
          <a:lstStyle/>
          <a:p>
            <a:endParaRPr lang="fr-FR"/>
          </a:p>
        </p:txBody>
      </p:sp>
      <p:sp>
        <p:nvSpPr>
          <p:cNvPr id="17" name="Text 12"/>
          <p:cNvSpPr/>
          <p:nvPr/>
        </p:nvSpPr>
        <p:spPr>
          <a:xfrm>
            <a:off x="1143000" y="3538728"/>
            <a:ext cx="41148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Images </a:t>
            </a:r>
            <a:endParaRPr lang="en-US" sz="1300" dirty="0"/>
          </a:p>
        </p:txBody>
      </p:sp>
      <p:sp>
        <p:nvSpPr>
          <p:cNvPr id="18" name="Text 13"/>
          <p:cNvSpPr/>
          <p:nvPr/>
        </p:nvSpPr>
        <p:spPr>
          <a:xfrm>
            <a:off x="1143000" y="3803904"/>
            <a:ext cx="7132320" cy="256032"/>
          </a:xfrm>
          <a:prstGeom prst="rect">
            <a:avLst/>
          </a:prstGeom>
          <a:noFill/>
          <a:ln/>
        </p:spPr>
        <p:txBody>
          <a:bodyPr wrap="square" lIns="0" tIns="0" rIns="0" bIns="0" rtlCol="0" anchor="ctr"/>
          <a:lstStyle/>
          <a:p>
            <a:r>
              <a:rPr lang="en-US" sz="1000" dirty="0">
                <a:solidFill>
                  <a:srgbClr val="8B949E"/>
                </a:solidFill>
                <a:latin typeface="Calibri" pitchFamily="34" charset="0"/>
                <a:ea typeface="Calibri" pitchFamily="34" charset="-122"/>
                <a:cs typeface="Calibri" pitchFamily="34" charset="-120"/>
              </a:rPr>
              <a:t>Publication </a:t>
            </a:r>
            <a:r>
              <a:rPr lang="en-US" sz="1000" dirty="0" err="1">
                <a:solidFill>
                  <a:srgbClr val="8B949E"/>
                </a:solidFill>
                <a:latin typeface="Calibri" pitchFamily="34" charset="0"/>
                <a:ea typeface="Calibri" pitchFamily="34" charset="-122"/>
                <a:cs typeface="Calibri" pitchFamily="34" charset="-120"/>
              </a:rPr>
              <a:t>d’images</a:t>
            </a:r>
            <a:r>
              <a:rPr lang="en-US" sz="1000" dirty="0">
                <a:solidFill>
                  <a:srgbClr val="8B949E"/>
                </a:solidFill>
                <a:latin typeface="Calibri" pitchFamily="34" charset="0"/>
                <a:ea typeface="Calibri" pitchFamily="34" charset="-122"/>
                <a:cs typeface="Calibri" pitchFamily="34" charset="-120"/>
              </a:rPr>
              <a:t> dans le forum · Photo de </a:t>
            </a:r>
            <a:r>
              <a:rPr lang="en-US" sz="1000" dirty="0" err="1">
                <a:solidFill>
                  <a:srgbClr val="8B949E"/>
                </a:solidFill>
                <a:latin typeface="Calibri" pitchFamily="34" charset="0"/>
                <a:ea typeface="Calibri" pitchFamily="34" charset="-122"/>
                <a:cs typeface="Calibri" pitchFamily="34" charset="-120"/>
              </a:rPr>
              <a:t>profil</a:t>
            </a:r>
            <a:r>
              <a:rPr lang="en-US" sz="1000" dirty="0">
                <a:solidFill>
                  <a:srgbClr val="8B949E"/>
                </a:solidFill>
                <a:latin typeface="Calibri" pitchFamily="34" charset="0"/>
                <a:ea typeface="Calibri" pitchFamily="34" charset="-122"/>
                <a:cs typeface="Calibri" pitchFamily="34" charset="-120"/>
              </a:rPr>
              <a:t> ·</a:t>
            </a:r>
            <a:endParaRPr lang="en-US" sz="1000" dirty="0"/>
          </a:p>
        </p:txBody>
      </p:sp>
      <p:sp>
        <p:nvSpPr>
          <p:cNvPr id="19" name="Shape 14"/>
          <p:cNvSpPr/>
          <p:nvPr/>
        </p:nvSpPr>
        <p:spPr>
          <a:xfrm>
            <a:off x="411480" y="4242816"/>
            <a:ext cx="8321040" cy="621792"/>
          </a:xfrm>
          <a:prstGeom prst="roundRect">
            <a:avLst>
              <a:gd name="adj" fmla="val 11765"/>
            </a:avLst>
          </a:prstGeom>
          <a:solidFill>
            <a:srgbClr val="161B22"/>
          </a:solidFill>
          <a:ln w="12700">
            <a:solidFill>
              <a:srgbClr val="7C3AED"/>
            </a:solidFill>
            <a:prstDash val="solid"/>
          </a:ln>
          <a:effectLst>
            <a:outerShdw blurRad="152400" dist="38100" dir="2700000" algn="bl" rotWithShape="0">
              <a:srgbClr val="000000">
                <a:alpha val="35000"/>
              </a:srgbClr>
            </a:outerShdw>
          </a:effectLst>
        </p:spPr>
        <p:txBody>
          <a:bodyPr/>
          <a:lstStyle/>
          <a:p>
            <a:endParaRPr lang="fr-FR"/>
          </a:p>
        </p:txBody>
      </p:sp>
      <p:pic>
        <p:nvPicPr>
          <p:cNvPr id="20" name="Image 3" descr="preencoded.png"/>
          <p:cNvPicPr>
            <a:picLocks noChangeAspect="1"/>
          </p:cNvPicPr>
          <p:nvPr/>
        </p:nvPicPr>
        <p:blipFill>
          <a:blip r:embed="rId5"/>
          <a:stretch>
            <a:fillRect/>
          </a:stretch>
        </p:blipFill>
        <p:spPr>
          <a:xfrm>
            <a:off x="640080" y="4370832"/>
            <a:ext cx="365760" cy="365760"/>
          </a:xfrm>
          <a:prstGeom prst="rect">
            <a:avLst/>
          </a:prstGeom>
        </p:spPr>
      </p:pic>
      <p:sp>
        <p:nvSpPr>
          <p:cNvPr id="21" name="Text 15"/>
          <p:cNvSpPr/>
          <p:nvPr/>
        </p:nvSpPr>
        <p:spPr>
          <a:xfrm>
            <a:off x="1143000" y="4297680"/>
            <a:ext cx="411480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UX enrichie</a:t>
            </a:r>
            <a:endParaRPr lang="en-US" sz="1300" dirty="0"/>
          </a:p>
        </p:txBody>
      </p:sp>
      <p:sp>
        <p:nvSpPr>
          <p:cNvPr id="22" name="Text 16"/>
          <p:cNvSpPr/>
          <p:nvPr/>
        </p:nvSpPr>
        <p:spPr>
          <a:xfrm>
            <a:off x="1143000" y="4562856"/>
            <a:ext cx="7132320" cy="256032"/>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Notifications visuelles · Animations CSS · Dark mode</a:t>
            </a:r>
            <a:endParaRPr lang="en-US" sz="1000" dirty="0"/>
          </a:p>
        </p:txBody>
      </p:sp>
      <p:pic>
        <p:nvPicPr>
          <p:cNvPr id="24" name="Graphique 23" descr="Images avec un remplissage uni">
            <a:extLst>
              <a:ext uri="{FF2B5EF4-FFF2-40B4-BE49-F238E27FC236}">
                <a16:creationId xmlns:a16="http://schemas.microsoft.com/office/drawing/2014/main" id="{EFA99F2A-CC6C-FA34-DAF2-1FB2C37FB1A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23240" y="3538728"/>
            <a:ext cx="508000" cy="50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320040"/>
          </a:xfrm>
          <a:prstGeom prst="rect">
            <a:avLst/>
          </a:prstGeom>
          <a:noFill/>
          <a:ln/>
        </p:spPr>
        <p:txBody>
          <a:bodyPr wrap="square" lIns="0" tIns="0" rIns="0" bIns="0" rtlCol="0" anchor="ctr"/>
          <a:lstStyle/>
          <a:p>
            <a:pPr marL="0" indent="0">
              <a:buNone/>
            </a:pPr>
            <a:r>
              <a:rPr lang="en-US" sz="900" b="1" kern="0" spc="400" dirty="0">
                <a:solidFill>
                  <a:srgbClr val="10B981"/>
                </a:solidFill>
              </a:rPr>
              <a:t>03 — ORGANISATION</a:t>
            </a:r>
            <a:endParaRPr lang="en-US" sz="900" dirty="0"/>
          </a:p>
        </p:txBody>
      </p:sp>
      <p:sp>
        <p:nvSpPr>
          <p:cNvPr id="3" name="Text 1"/>
          <p:cNvSpPr/>
          <p:nvPr/>
        </p:nvSpPr>
        <p:spPr>
          <a:xfrm>
            <a:off x="457200" y="640080"/>
            <a:ext cx="64008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Répartition du Travail</a:t>
            </a:r>
            <a:endParaRPr lang="en-US" sz="3000" dirty="0"/>
          </a:p>
        </p:txBody>
      </p:sp>
      <p:sp>
        <p:nvSpPr>
          <p:cNvPr id="4" name="Shape 2"/>
          <p:cNvSpPr/>
          <p:nvPr/>
        </p:nvSpPr>
        <p:spPr>
          <a:xfrm>
            <a:off x="457200" y="1325880"/>
            <a:ext cx="8229600" cy="0"/>
          </a:xfrm>
          <a:prstGeom prst="line">
            <a:avLst/>
          </a:prstGeom>
          <a:noFill/>
          <a:ln w="12700">
            <a:solidFill>
              <a:srgbClr val="1F2937"/>
            </a:solidFill>
            <a:prstDash val="solid"/>
          </a:ln>
        </p:spPr>
        <p:txBody>
          <a:bodyPr/>
          <a:lstStyle/>
          <a:p>
            <a:endParaRPr lang="fr-FR"/>
          </a:p>
        </p:txBody>
      </p:sp>
      <p:sp>
        <p:nvSpPr>
          <p:cNvPr id="5" name="Shape 3"/>
          <p:cNvSpPr/>
          <p:nvPr/>
        </p:nvSpPr>
        <p:spPr>
          <a:xfrm>
            <a:off x="411480" y="1508760"/>
            <a:ext cx="4023360" cy="3291840"/>
          </a:xfrm>
          <a:prstGeom prst="roundRect">
            <a:avLst>
              <a:gd name="adj" fmla="val 3333"/>
            </a:avLst>
          </a:prstGeom>
          <a:solidFill>
            <a:srgbClr val="161B22"/>
          </a:solidFill>
          <a:ln w="19050">
            <a:solidFill>
              <a:srgbClr val="00C9FF"/>
            </a:solidFill>
            <a:prstDash val="solid"/>
          </a:ln>
          <a:effectLst>
            <a:outerShdw blurRad="152400" dist="38100" dir="2700000" algn="bl" rotWithShape="0">
              <a:srgbClr val="000000">
                <a:alpha val="35000"/>
              </a:srgbClr>
            </a:outerShdw>
          </a:effectLst>
        </p:spPr>
        <p:txBody>
          <a:bodyPr/>
          <a:lstStyle/>
          <a:p>
            <a:endParaRPr lang="fr-FR"/>
          </a:p>
        </p:txBody>
      </p:sp>
      <p:pic>
        <p:nvPicPr>
          <p:cNvPr id="6" name="Image 0" descr="preencoded.png"/>
          <p:cNvPicPr>
            <a:picLocks noChangeAspect="1"/>
          </p:cNvPicPr>
          <p:nvPr/>
        </p:nvPicPr>
        <p:blipFill>
          <a:blip r:embed="rId3"/>
          <a:stretch>
            <a:fillRect/>
          </a:stretch>
        </p:blipFill>
        <p:spPr>
          <a:xfrm>
            <a:off x="685800" y="1691640"/>
            <a:ext cx="411480" cy="411480"/>
          </a:xfrm>
          <a:prstGeom prst="rect">
            <a:avLst/>
          </a:prstGeom>
        </p:spPr>
      </p:pic>
      <p:sp>
        <p:nvSpPr>
          <p:cNvPr id="7" name="Text 4"/>
          <p:cNvSpPr/>
          <p:nvPr/>
        </p:nvSpPr>
        <p:spPr>
          <a:xfrm>
            <a:off x="1188720" y="1645920"/>
            <a:ext cx="3108960" cy="502920"/>
          </a:xfrm>
          <a:prstGeom prst="rect">
            <a:avLst/>
          </a:prstGeom>
          <a:noFill/>
          <a:ln/>
        </p:spPr>
        <p:txBody>
          <a:bodyPr wrap="square" lIns="0" tIns="0" rIns="0" bIns="0" rtlCol="0" anchor="ctr"/>
          <a:lstStyle/>
          <a:p>
            <a:pPr marL="0" indent="0">
              <a:buNone/>
            </a:pPr>
            <a:r>
              <a:rPr lang="en-US" sz="2000" b="1" dirty="0">
                <a:solidFill>
                  <a:srgbClr val="00C9FF"/>
                </a:solidFill>
                <a:latin typeface="Calibri" pitchFamily="34" charset="0"/>
                <a:ea typeface="Calibri" pitchFamily="34" charset="-122"/>
                <a:cs typeface="Calibri" pitchFamily="34" charset="-120"/>
              </a:rPr>
              <a:t>Hugo</a:t>
            </a:r>
            <a:endParaRPr lang="en-US" sz="2000" dirty="0"/>
          </a:p>
        </p:txBody>
      </p:sp>
      <p:sp>
        <p:nvSpPr>
          <p:cNvPr id="8" name="Shape 5"/>
          <p:cNvSpPr/>
          <p:nvPr/>
        </p:nvSpPr>
        <p:spPr>
          <a:xfrm>
            <a:off x="594360" y="2240280"/>
            <a:ext cx="3657600" cy="0"/>
          </a:xfrm>
          <a:prstGeom prst="line">
            <a:avLst/>
          </a:prstGeom>
          <a:noFill/>
          <a:ln w="12700">
            <a:solidFill>
              <a:srgbClr val="1F2937"/>
            </a:solidFill>
            <a:prstDash val="solid"/>
          </a:ln>
        </p:spPr>
        <p:txBody>
          <a:bodyPr/>
          <a:lstStyle/>
          <a:p>
            <a:endParaRPr lang="fr-FR"/>
          </a:p>
        </p:txBody>
      </p:sp>
      <p:sp>
        <p:nvSpPr>
          <p:cNvPr id="9" name="Text 6"/>
          <p:cNvSpPr/>
          <p:nvPr/>
        </p:nvSpPr>
        <p:spPr>
          <a:xfrm>
            <a:off x="594360" y="2074091"/>
            <a:ext cx="3657600" cy="2286000"/>
          </a:xfrm>
          <a:prstGeom prst="rect">
            <a:avLst/>
          </a:prstGeom>
          <a:noFill/>
          <a:ln/>
        </p:spPr>
        <p:txBody>
          <a:bodyPr wrap="square" rtlCol="0" anchor="ctr"/>
          <a:lstStyle/>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FT-3 : </a:t>
            </a:r>
            <a:r>
              <a:rPr lang="en-US" sz="1100" dirty="0" err="1">
                <a:solidFill>
                  <a:srgbClr val="FFFFFF"/>
                </a:solidFill>
                <a:latin typeface="Calibri" pitchFamily="34" charset="0"/>
                <a:ea typeface="Calibri" pitchFamily="34" charset="-122"/>
                <a:cs typeface="Calibri" pitchFamily="34" charset="-120"/>
              </a:rPr>
              <a:t>Création</a:t>
            </a:r>
            <a:r>
              <a:rPr lang="en-US" sz="1100" dirty="0">
                <a:solidFill>
                  <a:srgbClr val="FFFFFF"/>
                </a:solidFill>
                <a:latin typeface="Calibri" pitchFamily="34" charset="0"/>
                <a:ea typeface="Calibri" pitchFamily="34" charset="-122"/>
                <a:cs typeface="Calibri" pitchFamily="34" charset="-120"/>
              </a:rPr>
              <a:t> de topic </a:t>
            </a: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FT-4 : Consulter un topic </a:t>
            </a: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FT-5 : Poster un message dans un topic</a:t>
            </a: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FT-8 : Trier les message  </a:t>
            </a: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FT-10 : </a:t>
            </a:r>
            <a:r>
              <a:rPr lang="en-US" sz="1100" dirty="0" err="1">
                <a:solidFill>
                  <a:srgbClr val="FFFFFF"/>
                </a:solidFill>
                <a:latin typeface="Calibri" pitchFamily="34" charset="0"/>
                <a:ea typeface="Calibri" pitchFamily="34" charset="-122"/>
                <a:cs typeface="Calibri" pitchFamily="34" charset="-120"/>
              </a:rPr>
              <a:t>Afficher</a:t>
            </a:r>
            <a:r>
              <a:rPr lang="en-US" sz="1100" dirty="0">
                <a:solidFill>
                  <a:srgbClr val="FFFFFF"/>
                </a:solidFill>
                <a:latin typeface="Calibri" pitchFamily="34" charset="0"/>
                <a:ea typeface="Calibri" pitchFamily="34" charset="-122"/>
                <a:cs typeface="Calibri" pitchFamily="34" charset="-120"/>
              </a:rPr>
              <a:t> les topics par </a:t>
            </a:r>
            <a:r>
              <a:rPr lang="en-US" sz="1100" dirty="0" err="1">
                <a:solidFill>
                  <a:srgbClr val="FFFFFF"/>
                </a:solidFill>
                <a:latin typeface="Calibri" pitchFamily="34" charset="0"/>
                <a:ea typeface="Calibri" pitchFamily="34" charset="-122"/>
                <a:cs typeface="Calibri" pitchFamily="34" charset="-120"/>
              </a:rPr>
              <a:t>catégorie</a:t>
            </a:r>
            <a:endParaRPr lang="en-US" sz="1100" dirty="0">
              <a:solidFill>
                <a:srgbClr val="FFFFFF"/>
              </a:solidFill>
              <a:latin typeface="Calibri" pitchFamily="34" charset="0"/>
              <a:ea typeface="Calibri" pitchFamily="34" charset="-122"/>
              <a:cs typeface="Calibri" pitchFamily="34" charset="-120"/>
            </a:endParaRP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FT-12 : Barre de recherche </a:t>
            </a:r>
          </a:p>
          <a:p>
            <a:pPr marL="342900" indent="-342900">
              <a:spcAft>
                <a:spcPts val="400"/>
              </a:spcAft>
              <a:buSzPct val="100000"/>
              <a:buChar char="•"/>
            </a:pPr>
            <a:endParaRPr lang="en-US" sz="1100" dirty="0">
              <a:solidFill>
                <a:srgbClr val="FFFFFF"/>
              </a:solidFill>
              <a:latin typeface="Calibri" pitchFamily="34" charset="0"/>
              <a:ea typeface="Calibri" pitchFamily="34" charset="-122"/>
              <a:cs typeface="Calibri" pitchFamily="34" charset="-120"/>
            </a:endParaRP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FTB-2 : </a:t>
            </a:r>
            <a:r>
              <a:rPr lang="en-US" sz="1100" dirty="0" err="1">
                <a:solidFill>
                  <a:srgbClr val="FFFFFF"/>
                </a:solidFill>
                <a:latin typeface="Calibri" pitchFamily="34" charset="0"/>
                <a:ea typeface="Calibri" pitchFamily="34" charset="-122"/>
                <a:cs typeface="Calibri" pitchFamily="34" charset="-120"/>
              </a:rPr>
              <a:t>Création</a:t>
            </a:r>
            <a:r>
              <a:rPr lang="en-US" sz="1100" dirty="0">
                <a:solidFill>
                  <a:srgbClr val="FFFFFF"/>
                </a:solidFill>
                <a:latin typeface="Calibri" pitchFamily="34" charset="0"/>
                <a:ea typeface="Calibri" pitchFamily="34" charset="-122"/>
                <a:cs typeface="Calibri" pitchFamily="34" charset="-120"/>
              </a:rPr>
              <a:t> &amp; gestion de </a:t>
            </a:r>
            <a:r>
              <a:rPr lang="en-US" sz="1100" dirty="0" err="1">
                <a:solidFill>
                  <a:srgbClr val="FFFFFF"/>
                </a:solidFill>
                <a:latin typeface="Calibri" pitchFamily="34" charset="0"/>
                <a:ea typeface="Calibri" pitchFamily="34" charset="-122"/>
                <a:cs typeface="Calibri" pitchFamily="34" charset="-120"/>
              </a:rPr>
              <a:t>profil</a:t>
            </a:r>
            <a:endParaRPr lang="en-US" sz="1100" dirty="0"/>
          </a:p>
          <a:p>
            <a:pPr marL="342900" indent="-342900">
              <a:spcAft>
                <a:spcPts val="400"/>
              </a:spcAft>
              <a:buSzPct val="100000"/>
              <a:buChar char="•"/>
            </a:pPr>
            <a:endParaRPr lang="en-US" sz="1100" dirty="0"/>
          </a:p>
        </p:txBody>
      </p:sp>
      <p:sp>
        <p:nvSpPr>
          <p:cNvPr id="10" name="Shape 7"/>
          <p:cNvSpPr/>
          <p:nvPr/>
        </p:nvSpPr>
        <p:spPr>
          <a:xfrm>
            <a:off x="4709160" y="1508760"/>
            <a:ext cx="4023360" cy="3291840"/>
          </a:xfrm>
          <a:prstGeom prst="roundRect">
            <a:avLst>
              <a:gd name="adj" fmla="val 3333"/>
            </a:avLst>
          </a:prstGeom>
          <a:solidFill>
            <a:srgbClr val="161B22"/>
          </a:solidFill>
          <a:ln w="19050">
            <a:solidFill>
              <a:srgbClr val="7C3AED"/>
            </a:solidFill>
            <a:prstDash val="solid"/>
          </a:ln>
          <a:effectLst>
            <a:outerShdw blurRad="152400" dist="38100" dir="2700000" algn="bl" rotWithShape="0">
              <a:srgbClr val="000000">
                <a:alpha val="35000"/>
              </a:srgbClr>
            </a:outerShdw>
          </a:effectLst>
        </p:spPr>
        <p:txBody>
          <a:bodyPr/>
          <a:lstStyle/>
          <a:p>
            <a:endParaRPr lang="fr-FR"/>
          </a:p>
        </p:txBody>
      </p:sp>
      <p:pic>
        <p:nvPicPr>
          <p:cNvPr id="11" name="Image 1" descr="preencoded.png"/>
          <p:cNvPicPr>
            <a:picLocks noChangeAspect="1"/>
          </p:cNvPicPr>
          <p:nvPr/>
        </p:nvPicPr>
        <p:blipFill>
          <a:blip r:embed="rId3"/>
          <a:stretch>
            <a:fillRect/>
          </a:stretch>
        </p:blipFill>
        <p:spPr>
          <a:xfrm>
            <a:off x="4983480" y="1691640"/>
            <a:ext cx="411480" cy="411480"/>
          </a:xfrm>
          <a:prstGeom prst="rect">
            <a:avLst/>
          </a:prstGeom>
        </p:spPr>
      </p:pic>
      <p:sp>
        <p:nvSpPr>
          <p:cNvPr id="12" name="Text 8"/>
          <p:cNvSpPr/>
          <p:nvPr/>
        </p:nvSpPr>
        <p:spPr>
          <a:xfrm>
            <a:off x="5486400" y="1645920"/>
            <a:ext cx="3108960" cy="502920"/>
          </a:xfrm>
          <a:prstGeom prst="rect">
            <a:avLst/>
          </a:prstGeom>
          <a:noFill/>
          <a:ln/>
        </p:spPr>
        <p:txBody>
          <a:bodyPr wrap="square" lIns="0" tIns="0" rIns="0" bIns="0" rtlCol="0" anchor="ctr"/>
          <a:lstStyle/>
          <a:p>
            <a:pPr marL="0" indent="0">
              <a:buNone/>
            </a:pPr>
            <a:r>
              <a:rPr lang="en-US" sz="2000" b="1" dirty="0">
                <a:solidFill>
                  <a:srgbClr val="7C3AED"/>
                </a:solidFill>
                <a:latin typeface="Calibri" pitchFamily="34" charset="0"/>
                <a:ea typeface="Calibri" pitchFamily="34" charset="-122"/>
                <a:cs typeface="Calibri" pitchFamily="34" charset="-120"/>
              </a:rPr>
              <a:t>Louis</a:t>
            </a:r>
            <a:endParaRPr lang="en-US" sz="2000" dirty="0"/>
          </a:p>
        </p:txBody>
      </p:sp>
      <p:sp>
        <p:nvSpPr>
          <p:cNvPr id="13" name="Shape 9"/>
          <p:cNvSpPr/>
          <p:nvPr/>
        </p:nvSpPr>
        <p:spPr>
          <a:xfrm>
            <a:off x="4892040" y="2240280"/>
            <a:ext cx="3657600" cy="0"/>
          </a:xfrm>
          <a:prstGeom prst="line">
            <a:avLst/>
          </a:prstGeom>
          <a:noFill/>
          <a:ln w="12700">
            <a:solidFill>
              <a:srgbClr val="1F2937"/>
            </a:solidFill>
            <a:prstDash val="solid"/>
          </a:ln>
        </p:spPr>
        <p:txBody>
          <a:bodyPr/>
          <a:lstStyle/>
          <a:p>
            <a:endParaRPr lang="fr-FR"/>
          </a:p>
        </p:txBody>
      </p:sp>
      <p:sp>
        <p:nvSpPr>
          <p:cNvPr id="14" name="Text 10"/>
          <p:cNvSpPr/>
          <p:nvPr/>
        </p:nvSpPr>
        <p:spPr>
          <a:xfrm>
            <a:off x="4892040" y="2011681"/>
            <a:ext cx="3657600" cy="2286000"/>
          </a:xfrm>
          <a:prstGeom prst="rect">
            <a:avLst/>
          </a:prstGeom>
          <a:noFill/>
          <a:ln/>
        </p:spPr>
        <p:txBody>
          <a:bodyPr wrap="square" rtlCol="0" anchor="ctr"/>
          <a:lstStyle/>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FT-1 : Inscription</a:t>
            </a: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FT-2 : </a:t>
            </a:r>
            <a:r>
              <a:rPr lang="en-US" sz="1100" dirty="0" err="1">
                <a:solidFill>
                  <a:srgbClr val="FFFFFF"/>
                </a:solidFill>
                <a:latin typeface="Calibri" pitchFamily="34" charset="0"/>
                <a:ea typeface="Calibri" pitchFamily="34" charset="-122"/>
                <a:cs typeface="Calibri" pitchFamily="34" charset="-120"/>
              </a:rPr>
              <a:t>Connexion</a:t>
            </a:r>
            <a:endParaRPr lang="en-US" sz="1100" dirty="0">
              <a:solidFill>
                <a:srgbClr val="FFFFFF"/>
              </a:solidFill>
              <a:latin typeface="Calibri" pitchFamily="34" charset="0"/>
              <a:ea typeface="Calibri" pitchFamily="34" charset="-122"/>
              <a:cs typeface="Calibri" pitchFamily="34" charset="-120"/>
            </a:endParaRP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FT-6 : Gestion des message et du topic </a:t>
            </a:r>
            <a:endParaRPr lang="en-US" sz="1100" dirty="0"/>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FT-7 : Likes &amp; Dislikes </a:t>
            </a: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FT-9 : Pagination </a:t>
            </a: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FT-11 : Dashboard Admin</a:t>
            </a:r>
            <a:endParaRPr lang="en-US" sz="1100" dirty="0"/>
          </a:p>
          <a:p>
            <a:pPr marL="342900" indent="-342900">
              <a:spcAft>
                <a:spcPts val="400"/>
              </a:spcAft>
              <a:buSzPct val="100000"/>
              <a:buChar char="•"/>
            </a:pPr>
            <a:endParaRPr lang="en-US" sz="1100" dirty="0">
              <a:solidFill>
                <a:srgbClr val="FFFFFF"/>
              </a:solidFill>
              <a:latin typeface="Calibri" pitchFamily="34" charset="0"/>
              <a:ea typeface="Calibri" pitchFamily="34" charset="-122"/>
              <a:cs typeface="Calibri" pitchFamily="34" charset="-120"/>
            </a:endParaRPr>
          </a:p>
          <a:p>
            <a:pPr marL="342900" indent="-342900">
              <a:spcAft>
                <a:spcPts val="400"/>
              </a:spcAft>
              <a:buSzPct val="100000"/>
              <a:buChar char="•"/>
            </a:pPr>
            <a:r>
              <a:rPr lang="en-US" sz="1100" dirty="0">
                <a:solidFill>
                  <a:srgbClr val="FFFFFF"/>
                </a:solidFill>
                <a:latin typeface="Calibri" pitchFamily="34" charset="0"/>
                <a:ea typeface="Calibri" pitchFamily="34" charset="-122"/>
                <a:cs typeface="Calibri" pitchFamily="34" charset="-120"/>
              </a:rPr>
              <a:t>FTB-1 : Gestion des images </a:t>
            </a:r>
            <a:endParaRPr lang="en-US" sz="1100" dirty="0"/>
          </a:p>
        </p:txBody>
      </p:sp>
      <p:sp>
        <p:nvSpPr>
          <p:cNvPr id="15" name="Shape 11"/>
          <p:cNvSpPr/>
          <p:nvPr/>
        </p:nvSpPr>
        <p:spPr>
          <a:xfrm>
            <a:off x="3566160" y="4343400"/>
            <a:ext cx="2011680" cy="502920"/>
          </a:xfrm>
          <a:prstGeom prst="roundRect">
            <a:avLst>
              <a:gd name="adj" fmla="val 45455"/>
            </a:avLst>
          </a:prstGeom>
          <a:solidFill>
            <a:srgbClr val="0D1117"/>
          </a:solidFill>
          <a:ln w="25400">
            <a:solidFill>
              <a:srgbClr val="10B981"/>
            </a:solidFill>
            <a:prstDash val="solid"/>
          </a:ln>
          <a:effectLst>
            <a:outerShdw blurRad="152400" dist="38100" dir="2700000" algn="bl" rotWithShape="0">
              <a:srgbClr val="000000">
                <a:alpha val="35000"/>
              </a:srgbClr>
            </a:outerShdw>
          </a:effectLst>
        </p:spPr>
        <p:txBody>
          <a:bodyPr/>
          <a:lstStyle/>
          <a:p>
            <a:endParaRPr lang="fr-FR"/>
          </a:p>
        </p:txBody>
      </p:sp>
      <p:sp>
        <p:nvSpPr>
          <p:cNvPr id="16" name="Text 12"/>
          <p:cNvSpPr/>
          <p:nvPr/>
        </p:nvSpPr>
        <p:spPr>
          <a:xfrm>
            <a:off x="3566160" y="4343400"/>
            <a:ext cx="2011680" cy="502920"/>
          </a:xfrm>
          <a:prstGeom prst="rect">
            <a:avLst/>
          </a:prstGeom>
          <a:noFill/>
          <a:ln/>
        </p:spPr>
        <p:txBody>
          <a:bodyPr wrap="square" lIns="0" tIns="0" rIns="0" bIns="0" rtlCol="0" anchor="ctr"/>
          <a:lstStyle/>
          <a:p>
            <a:pPr marL="0" indent="0" algn="ctr">
              <a:buNone/>
            </a:pPr>
            <a:r>
              <a:rPr lang="en-US" sz="1300" b="1" dirty="0">
                <a:solidFill>
                  <a:srgbClr val="10B981"/>
                </a:solidFill>
              </a:rPr>
              <a:t>⚖️  50 / 50</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2" name="Text 0"/>
          <p:cNvSpPr/>
          <p:nvPr/>
        </p:nvSpPr>
        <p:spPr>
          <a:xfrm>
            <a:off x="457200" y="320040"/>
            <a:ext cx="8229600" cy="320040"/>
          </a:xfrm>
          <a:prstGeom prst="rect">
            <a:avLst/>
          </a:prstGeom>
          <a:noFill/>
          <a:ln/>
        </p:spPr>
        <p:txBody>
          <a:bodyPr wrap="square" lIns="0" tIns="0" rIns="0" bIns="0" rtlCol="0" anchor="ctr"/>
          <a:lstStyle/>
          <a:p>
            <a:pPr marL="0" indent="0">
              <a:buNone/>
            </a:pPr>
            <a:r>
              <a:rPr lang="en-US" sz="900" b="1" kern="0" spc="400" dirty="0">
                <a:solidFill>
                  <a:srgbClr val="10B981"/>
                </a:solidFill>
              </a:rPr>
              <a:t>03 — RETOUR D'EXPÉRIENCE</a:t>
            </a:r>
            <a:endParaRPr lang="en-US" sz="900" dirty="0"/>
          </a:p>
        </p:txBody>
      </p:sp>
      <p:sp>
        <p:nvSpPr>
          <p:cNvPr id="3" name="Text 1"/>
          <p:cNvSpPr/>
          <p:nvPr/>
        </p:nvSpPr>
        <p:spPr>
          <a:xfrm>
            <a:off x="457200" y="640080"/>
            <a:ext cx="64008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Difficultés &amp; Solutions</a:t>
            </a:r>
            <a:endParaRPr lang="en-US" sz="3000" dirty="0"/>
          </a:p>
        </p:txBody>
      </p:sp>
      <p:sp>
        <p:nvSpPr>
          <p:cNvPr id="4" name="Shape 2"/>
          <p:cNvSpPr/>
          <p:nvPr/>
        </p:nvSpPr>
        <p:spPr>
          <a:xfrm>
            <a:off x="457200" y="1325880"/>
            <a:ext cx="8229600" cy="0"/>
          </a:xfrm>
          <a:prstGeom prst="line">
            <a:avLst/>
          </a:prstGeom>
          <a:noFill/>
          <a:ln w="12700">
            <a:solidFill>
              <a:srgbClr val="1F2937"/>
            </a:solidFill>
            <a:prstDash val="solid"/>
          </a:ln>
        </p:spPr>
        <p:txBody>
          <a:bodyPr/>
          <a:lstStyle/>
          <a:p>
            <a:endParaRPr lang="fr-FR"/>
          </a:p>
        </p:txBody>
      </p:sp>
      <p:sp>
        <p:nvSpPr>
          <p:cNvPr id="5" name="Shape 3"/>
          <p:cNvSpPr/>
          <p:nvPr/>
        </p:nvSpPr>
        <p:spPr>
          <a:xfrm>
            <a:off x="411480" y="1463040"/>
            <a:ext cx="8321040" cy="1005840"/>
          </a:xfrm>
          <a:prstGeom prst="roundRect">
            <a:avLst>
              <a:gd name="adj" fmla="val 9091"/>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6" name="Image 0" descr="preencoded.png"/>
          <p:cNvPicPr>
            <a:picLocks noChangeAspect="1"/>
          </p:cNvPicPr>
          <p:nvPr/>
        </p:nvPicPr>
        <p:blipFill>
          <a:blip r:embed="rId3"/>
          <a:stretch>
            <a:fillRect/>
          </a:stretch>
        </p:blipFill>
        <p:spPr>
          <a:xfrm>
            <a:off x="566928" y="1572768"/>
            <a:ext cx="292608" cy="292608"/>
          </a:xfrm>
          <a:prstGeom prst="rect">
            <a:avLst/>
          </a:prstGeom>
        </p:spPr>
      </p:pic>
      <p:sp>
        <p:nvSpPr>
          <p:cNvPr id="7" name="Text 4"/>
          <p:cNvSpPr/>
          <p:nvPr/>
        </p:nvSpPr>
        <p:spPr>
          <a:xfrm>
            <a:off x="960120" y="1517904"/>
            <a:ext cx="3566160" cy="320040"/>
          </a:xfrm>
          <a:prstGeom prst="rect">
            <a:avLst/>
          </a:prstGeom>
          <a:noFill/>
          <a:ln/>
        </p:spPr>
        <p:txBody>
          <a:bodyPr wrap="square" lIns="0" tIns="0" rIns="0" bIns="0" rtlCol="0" anchor="ctr"/>
          <a:lstStyle/>
          <a:p>
            <a:pPr marL="0" indent="0">
              <a:buNone/>
            </a:pPr>
            <a:r>
              <a:rPr lang="en-US" sz="1300" b="1" dirty="0">
                <a:solidFill>
                  <a:srgbClr val="EF4444"/>
                </a:solidFill>
                <a:latin typeface="Calibri" pitchFamily="34" charset="0"/>
                <a:ea typeface="Calibri" pitchFamily="34" charset="-122"/>
                <a:cs typeface="Calibri" pitchFamily="34" charset="-120"/>
              </a:rPr>
              <a:t>Conflits Git lors des merges</a:t>
            </a:r>
            <a:endParaRPr lang="en-US" sz="1300" dirty="0"/>
          </a:p>
        </p:txBody>
      </p:sp>
      <p:sp>
        <p:nvSpPr>
          <p:cNvPr id="8" name="Text 5"/>
          <p:cNvSpPr/>
          <p:nvPr/>
        </p:nvSpPr>
        <p:spPr>
          <a:xfrm>
            <a:off x="960120" y="1847088"/>
            <a:ext cx="3566160" cy="50292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Travail en parallèle sur les mêmes fichiers → conflits fréquents</a:t>
            </a:r>
            <a:endParaRPr lang="en-US" sz="1000" dirty="0"/>
          </a:p>
        </p:txBody>
      </p:sp>
      <p:sp>
        <p:nvSpPr>
          <p:cNvPr id="9" name="Shape 6"/>
          <p:cNvSpPr/>
          <p:nvPr/>
        </p:nvSpPr>
        <p:spPr>
          <a:xfrm>
            <a:off x="4663440" y="1600200"/>
            <a:ext cx="0" cy="731520"/>
          </a:xfrm>
          <a:prstGeom prst="line">
            <a:avLst/>
          </a:prstGeom>
          <a:noFill/>
          <a:ln w="12700">
            <a:solidFill>
              <a:srgbClr val="1F2937"/>
            </a:solidFill>
            <a:prstDash val="solid"/>
          </a:ln>
        </p:spPr>
        <p:txBody>
          <a:bodyPr/>
          <a:lstStyle/>
          <a:p>
            <a:endParaRPr lang="fr-FR"/>
          </a:p>
        </p:txBody>
      </p:sp>
      <p:pic>
        <p:nvPicPr>
          <p:cNvPr id="10" name="Image 1" descr="preencoded.png"/>
          <p:cNvPicPr>
            <a:picLocks noChangeAspect="1"/>
          </p:cNvPicPr>
          <p:nvPr/>
        </p:nvPicPr>
        <p:blipFill>
          <a:blip r:embed="rId4"/>
          <a:stretch>
            <a:fillRect/>
          </a:stretch>
        </p:blipFill>
        <p:spPr>
          <a:xfrm>
            <a:off x="4800600" y="1572768"/>
            <a:ext cx="292608" cy="292608"/>
          </a:xfrm>
          <a:prstGeom prst="rect">
            <a:avLst/>
          </a:prstGeom>
        </p:spPr>
      </p:pic>
      <p:sp>
        <p:nvSpPr>
          <p:cNvPr id="11" name="Text 7"/>
          <p:cNvSpPr/>
          <p:nvPr/>
        </p:nvSpPr>
        <p:spPr>
          <a:xfrm>
            <a:off x="5193792" y="1517904"/>
            <a:ext cx="3383280" cy="274320"/>
          </a:xfrm>
          <a:prstGeom prst="rect">
            <a:avLst/>
          </a:prstGeom>
          <a:noFill/>
          <a:ln/>
        </p:spPr>
        <p:txBody>
          <a:bodyPr wrap="square" lIns="0" tIns="0" rIns="0" bIns="0" rtlCol="0" anchor="ctr"/>
          <a:lstStyle/>
          <a:p>
            <a:pPr marL="0" indent="0">
              <a:buNone/>
            </a:pPr>
            <a:r>
              <a:rPr lang="en-US" sz="1000" b="1" kern="0" spc="100" dirty="0">
                <a:solidFill>
                  <a:srgbClr val="10B981"/>
                </a:solidFill>
                <a:latin typeface="Calibri" pitchFamily="34" charset="0"/>
                <a:ea typeface="Calibri" pitchFamily="34" charset="-122"/>
                <a:cs typeface="Calibri" pitchFamily="34" charset="-120"/>
              </a:rPr>
              <a:t>Solution</a:t>
            </a:r>
            <a:endParaRPr lang="en-US" sz="1000" dirty="0"/>
          </a:p>
        </p:txBody>
      </p:sp>
      <p:sp>
        <p:nvSpPr>
          <p:cNvPr id="12" name="Text 8"/>
          <p:cNvSpPr/>
          <p:nvPr/>
        </p:nvSpPr>
        <p:spPr>
          <a:xfrm>
            <a:off x="4800600" y="1847088"/>
            <a:ext cx="374904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Réunions de merge planifiées · Convention de branches feature/ · Revue de code croisée</a:t>
            </a:r>
            <a:endParaRPr lang="en-US" sz="1000" dirty="0"/>
          </a:p>
        </p:txBody>
      </p:sp>
      <p:sp>
        <p:nvSpPr>
          <p:cNvPr id="13" name="Shape 9"/>
          <p:cNvSpPr/>
          <p:nvPr/>
        </p:nvSpPr>
        <p:spPr>
          <a:xfrm>
            <a:off x="411480" y="2606040"/>
            <a:ext cx="8321040" cy="1005840"/>
          </a:xfrm>
          <a:prstGeom prst="roundRect">
            <a:avLst>
              <a:gd name="adj" fmla="val 9091"/>
            </a:avLst>
          </a:prstGeom>
          <a:solidFill>
            <a:srgbClr val="161B22"/>
          </a:solidFill>
          <a:ln w="12700">
            <a:solidFill>
              <a:srgbClr val="1F2937"/>
            </a:solidFill>
            <a:prstDash val="solid"/>
          </a:ln>
          <a:effectLst>
            <a:outerShdw blurRad="152400" dist="38100" dir="2700000" algn="bl" rotWithShape="0">
              <a:srgbClr val="000000">
                <a:alpha val="35000"/>
              </a:srgbClr>
            </a:outerShdw>
          </a:effectLst>
        </p:spPr>
        <p:txBody>
          <a:bodyPr/>
          <a:lstStyle/>
          <a:p>
            <a:endParaRPr lang="fr-FR"/>
          </a:p>
        </p:txBody>
      </p:sp>
      <p:pic>
        <p:nvPicPr>
          <p:cNvPr id="14" name="Image 2" descr="preencoded.png"/>
          <p:cNvPicPr>
            <a:picLocks noChangeAspect="1"/>
          </p:cNvPicPr>
          <p:nvPr/>
        </p:nvPicPr>
        <p:blipFill>
          <a:blip r:embed="rId3"/>
          <a:stretch>
            <a:fillRect/>
          </a:stretch>
        </p:blipFill>
        <p:spPr>
          <a:xfrm>
            <a:off x="566928" y="2715768"/>
            <a:ext cx="292608" cy="292608"/>
          </a:xfrm>
          <a:prstGeom prst="rect">
            <a:avLst/>
          </a:prstGeom>
        </p:spPr>
      </p:pic>
      <p:sp>
        <p:nvSpPr>
          <p:cNvPr id="15" name="Text 10"/>
          <p:cNvSpPr/>
          <p:nvPr/>
        </p:nvSpPr>
        <p:spPr>
          <a:xfrm>
            <a:off x="960120" y="2660904"/>
            <a:ext cx="3566160" cy="320040"/>
          </a:xfrm>
          <a:prstGeom prst="rect">
            <a:avLst/>
          </a:prstGeom>
          <a:noFill/>
          <a:ln/>
        </p:spPr>
        <p:txBody>
          <a:bodyPr wrap="square" lIns="0" tIns="0" rIns="0" bIns="0" rtlCol="0" anchor="ctr"/>
          <a:lstStyle/>
          <a:p>
            <a:pPr marL="0" indent="0">
              <a:buNone/>
            </a:pPr>
            <a:r>
              <a:rPr lang="en-US" sz="1300" b="1" dirty="0">
                <a:solidFill>
                  <a:srgbClr val="EF4444"/>
                </a:solidFill>
                <a:latin typeface="Calibri" pitchFamily="34" charset="0"/>
                <a:ea typeface="Calibri" pitchFamily="34" charset="-122"/>
                <a:cs typeface="Calibri" pitchFamily="34" charset="-120"/>
              </a:rPr>
              <a:t>Hébergement SQL non partagé</a:t>
            </a:r>
            <a:endParaRPr lang="en-US" sz="1300" dirty="0"/>
          </a:p>
        </p:txBody>
      </p:sp>
      <p:sp>
        <p:nvSpPr>
          <p:cNvPr id="16" name="Text 11"/>
          <p:cNvSpPr/>
          <p:nvPr/>
        </p:nvSpPr>
        <p:spPr>
          <a:xfrm>
            <a:off x="960120" y="2990088"/>
            <a:ext cx="3566160" cy="502920"/>
          </a:xfrm>
          <a:prstGeom prst="rect">
            <a:avLst/>
          </a:prstGeom>
          <a:noFill/>
          <a:ln/>
        </p:spPr>
        <p:txBody>
          <a:bodyPr wrap="square" lIns="0" tIns="0" rIns="0" bIns="0" rtlCol="0" anchor="ctr"/>
          <a:lstStyle/>
          <a:p>
            <a:pPr marL="0" indent="0">
              <a:buNone/>
            </a:pPr>
            <a:r>
              <a:rPr lang="en-US" sz="1000" dirty="0">
                <a:solidFill>
                  <a:srgbClr val="8B949E"/>
                </a:solidFill>
                <a:latin typeface="Calibri" pitchFamily="34" charset="0"/>
                <a:ea typeface="Calibri" pitchFamily="34" charset="-122"/>
                <a:cs typeface="Calibri" pitchFamily="34" charset="-120"/>
              </a:rPr>
              <a:t>Base locale différente sur chaque machine → désynchronisation des schémas</a:t>
            </a:r>
            <a:endParaRPr lang="en-US" sz="1000" dirty="0"/>
          </a:p>
        </p:txBody>
      </p:sp>
      <p:sp>
        <p:nvSpPr>
          <p:cNvPr id="17" name="Shape 12"/>
          <p:cNvSpPr/>
          <p:nvPr/>
        </p:nvSpPr>
        <p:spPr>
          <a:xfrm>
            <a:off x="4663440" y="2743200"/>
            <a:ext cx="0" cy="731520"/>
          </a:xfrm>
          <a:prstGeom prst="line">
            <a:avLst/>
          </a:prstGeom>
          <a:noFill/>
          <a:ln w="12700">
            <a:solidFill>
              <a:srgbClr val="1F2937"/>
            </a:solidFill>
            <a:prstDash val="solid"/>
          </a:ln>
        </p:spPr>
        <p:txBody>
          <a:bodyPr/>
          <a:lstStyle/>
          <a:p>
            <a:endParaRPr lang="fr-FR"/>
          </a:p>
        </p:txBody>
      </p:sp>
      <p:pic>
        <p:nvPicPr>
          <p:cNvPr id="18" name="Image 3" descr="preencoded.png"/>
          <p:cNvPicPr>
            <a:picLocks noChangeAspect="1"/>
          </p:cNvPicPr>
          <p:nvPr/>
        </p:nvPicPr>
        <p:blipFill>
          <a:blip r:embed="rId4"/>
          <a:stretch>
            <a:fillRect/>
          </a:stretch>
        </p:blipFill>
        <p:spPr>
          <a:xfrm>
            <a:off x="4800600" y="2715768"/>
            <a:ext cx="292608" cy="292608"/>
          </a:xfrm>
          <a:prstGeom prst="rect">
            <a:avLst/>
          </a:prstGeom>
        </p:spPr>
      </p:pic>
      <p:sp>
        <p:nvSpPr>
          <p:cNvPr id="19" name="Text 13"/>
          <p:cNvSpPr/>
          <p:nvPr/>
        </p:nvSpPr>
        <p:spPr>
          <a:xfrm>
            <a:off x="5193792" y="2660904"/>
            <a:ext cx="3383280" cy="274320"/>
          </a:xfrm>
          <a:prstGeom prst="rect">
            <a:avLst/>
          </a:prstGeom>
          <a:noFill/>
          <a:ln/>
        </p:spPr>
        <p:txBody>
          <a:bodyPr wrap="square" lIns="0" tIns="0" rIns="0" bIns="0" rtlCol="0" anchor="ctr"/>
          <a:lstStyle/>
          <a:p>
            <a:pPr marL="0" indent="0">
              <a:buNone/>
            </a:pPr>
            <a:r>
              <a:rPr lang="en-US" sz="1000" b="1" kern="0" spc="100" dirty="0">
                <a:solidFill>
                  <a:srgbClr val="10B981"/>
                </a:solidFill>
                <a:latin typeface="Calibri" pitchFamily="34" charset="0"/>
                <a:ea typeface="Calibri" pitchFamily="34" charset="-122"/>
                <a:cs typeface="Calibri" pitchFamily="34" charset="-120"/>
              </a:rPr>
              <a:t>Solution</a:t>
            </a:r>
            <a:endParaRPr lang="en-US" sz="1000" dirty="0"/>
          </a:p>
        </p:txBody>
      </p:sp>
      <p:sp>
        <p:nvSpPr>
          <p:cNvPr id="20" name="Text 14"/>
          <p:cNvSpPr/>
          <p:nvPr/>
        </p:nvSpPr>
        <p:spPr>
          <a:xfrm>
            <a:off x="4800600" y="2990088"/>
            <a:ext cx="3749040" cy="502920"/>
          </a:xfrm>
          <a:prstGeom prst="rect">
            <a:avLst/>
          </a:prstGeom>
          <a:noFill/>
          <a:ln/>
        </p:spPr>
        <p:txBody>
          <a:bodyPr wrap="square" lIns="0" tIns="0" rIns="0" bIns="0" rtlCol="0" anchor="ctr"/>
          <a:lstStyle/>
          <a:p>
            <a:pPr marL="0" indent="0">
              <a:buNone/>
            </a:pPr>
            <a:r>
              <a:rPr lang="en-US" sz="1000" dirty="0">
                <a:solidFill>
                  <a:srgbClr val="FFFFFF"/>
                </a:solidFill>
                <a:latin typeface="Calibri" pitchFamily="34" charset="0"/>
                <a:ea typeface="Calibri" pitchFamily="34" charset="-122"/>
                <a:cs typeface="Calibri" pitchFamily="34" charset="-120"/>
              </a:rPr>
              <a:t>Migration vers une BDD commune sur XAMPP partagé · Scripts SQL d'initialisation versionnés</a:t>
            </a:r>
            <a:endParaRPr lang="en-US" sz="1000" dirty="0"/>
          </a:p>
        </p:txBody>
      </p:sp>
      <p:sp>
        <p:nvSpPr>
          <p:cNvPr id="23" name="Text 16"/>
          <p:cNvSpPr/>
          <p:nvPr/>
        </p:nvSpPr>
        <p:spPr>
          <a:xfrm>
            <a:off x="960120" y="3803904"/>
            <a:ext cx="3566160" cy="320040"/>
          </a:xfrm>
          <a:prstGeom prst="rect">
            <a:avLst/>
          </a:prstGeom>
          <a:noFill/>
          <a:ln/>
        </p:spPr>
        <p:txBody>
          <a:bodyPr wrap="square" lIns="0" tIns="0" rIns="0" bIns="0" rtlCol="0" anchor="ctr"/>
          <a:lstStyle/>
          <a:p>
            <a:pPr marL="0" indent="0">
              <a:buNone/>
            </a:pP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2" name="Shape 0"/>
          <p:cNvSpPr/>
          <p:nvPr/>
        </p:nvSpPr>
        <p:spPr>
          <a:xfrm>
            <a:off x="5943600" y="-914400"/>
            <a:ext cx="4572000" cy="4572000"/>
          </a:xfrm>
          <a:prstGeom prst="ellipse">
            <a:avLst/>
          </a:prstGeom>
          <a:solidFill>
            <a:srgbClr val="00C9FF">
              <a:alpha val="12000"/>
            </a:srgbClr>
          </a:solidFill>
          <a:ln w="12700">
            <a:solidFill>
              <a:srgbClr val="00C9FF">
                <a:alpha val="20000"/>
              </a:srgbClr>
            </a:solidFill>
            <a:prstDash val="solid"/>
          </a:ln>
        </p:spPr>
        <p:txBody>
          <a:bodyPr/>
          <a:lstStyle/>
          <a:p>
            <a:endParaRPr lang="fr-FR"/>
          </a:p>
        </p:txBody>
      </p:sp>
      <p:sp>
        <p:nvSpPr>
          <p:cNvPr id="3" name="Shape 1"/>
          <p:cNvSpPr/>
          <p:nvPr/>
        </p:nvSpPr>
        <p:spPr>
          <a:xfrm>
            <a:off x="-1371600" y="2286000"/>
            <a:ext cx="3657600" cy="3657600"/>
          </a:xfrm>
          <a:prstGeom prst="ellipse">
            <a:avLst/>
          </a:prstGeom>
          <a:solidFill>
            <a:srgbClr val="7C3AED">
              <a:alpha val="12000"/>
            </a:srgbClr>
          </a:solidFill>
          <a:ln w="12700">
            <a:solidFill>
              <a:srgbClr val="7C3AED">
                <a:alpha val="20000"/>
              </a:srgbClr>
            </a:solidFill>
            <a:prstDash val="solid"/>
          </a:ln>
        </p:spPr>
        <p:txBody>
          <a:bodyPr/>
          <a:lstStyle/>
          <a:p>
            <a:endParaRPr lang="fr-FR"/>
          </a:p>
        </p:txBody>
      </p:sp>
      <p:sp>
        <p:nvSpPr>
          <p:cNvPr id="4" name="Text 2"/>
          <p:cNvSpPr/>
          <p:nvPr/>
        </p:nvSpPr>
        <p:spPr>
          <a:xfrm>
            <a:off x="0" y="731520"/>
            <a:ext cx="9144000" cy="1371600"/>
          </a:xfrm>
          <a:prstGeom prst="rect">
            <a:avLst/>
          </a:prstGeom>
          <a:noFill/>
          <a:ln/>
        </p:spPr>
        <p:txBody>
          <a:bodyPr wrap="square" lIns="0" tIns="0" rIns="0" bIns="0" rtlCol="0" anchor="ctr"/>
          <a:lstStyle/>
          <a:p>
            <a:pPr marL="0" indent="0" algn="ctr">
              <a:buNone/>
            </a:pPr>
            <a:r>
              <a:rPr lang="en-US" sz="8000" b="1" dirty="0">
                <a:solidFill>
                  <a:srgbClr val="FFFFFF"/>
                </a:solidFill>
                <a:latin typeface="Calibri" pitchFamily="34" charset="0"/>
                <a:ea typeface="Calibri" pitchFamily="34" charset="-122"/>
                <a:cs typeface="Calibri" pitchFamily="34" charset="-120"/>
              </a:rPr>
              <a:t>MERCI</a:t>
            </a:r>
            <a:endParaRPr lang="en-US" sz="8000" dirty="0"/>
          </a:p>
        </p:txBody>
      </p:sp>
      <p:sp>
        <p:nvSpPr>
          <p:cNvPr id="5" name="Text 3"/>
          <p:cNvSpPr/>
          <p:nvPr/>
        </p:nvSpPr>
        <p:spPr>
          <a:xfrm>
            <a:off x="0" y="2011680"/>
            <a:ext cx="9144000" cy="548640"/>
          </a:xfrm>
          <a:prstGeom prst="rect">
            <a:avLst/>
          </a:prstGeom>
          <a:noFill/>
          <a:ln/>
        </p:spPr>
        <p:txBody>
          <a:bodyPr wrap="square" lIns="0" tIns="0" rIns="0" bIns="0" rtlCol="0" anchor="ctr"/>
          <a:lstStyle/>
          <a:p>
            <a:pPr marL="0" indent="0" algn="ctr">
              <a:buNone/>
            </a:pPr>
            <a:r>
              <a:rPr lang="en-US" sz="2200" dirty="0">
                <a:solidFill>
                  <a:srgbClr val="8B949E"/>
                </a:solidFill>
                <a:latin typeface="Calibri" pitchFamily="34" charset="0"/>
                <a:ea typeface="Calibri" pitchFamily="34" charset="-122"/>
                <a:cs typeface="Calibri" pitchFamily="34" charset="-120"/>
              </a:rPr>
              <a:t>pour votre attention</a:t>
            </a:r>
            <a:endParaRPr lang="en-US" sz="2200" dirty="0"/>
          </a:p>
        </p:txBody>
      </p:sp>
      <p:sp>
        <p:nvSpPr>
          <p:cNvPr id="6" name="Shape 4"/>
          <p:cNvSpPr/>
          <p:nvPr/>
        </p:nvSpPr>
        <p:spPr>
          <a:xfrm>
            <a:off x="3200400" y="2743200"/>
            <a:ext cx="2743200" cy="0"/>
          </a:xfrm>
          <a:prstGeom prst="line">
            <a:avLst/>
          </a:prstGeom>
          <a:noFill/>
          <a:ln w="19050">
            <a:solidFill>
              <a:srgbClr val="00C9FF"/>
            </a:solidFill>
            <a:prstDash val="solid"/>
          </a:ln>
        </p:spPr>
        <p:txBody>
          <a:bodyPr/>
          <a:lstStyle/>
          <a:p>
            <a:endParaRPr lang="fr-FR"/>
          </a:p>
        </p:txBody>
      </p:sp>
      <p:sp>
        <p:nvSpPr>
          <p:cNvPr id="7" name="Shape 5"/>
          <p:cNvSpPr/>
          <p:nvPr/>
        </p:nvSpPr>
        <p:spPr>
          <a:xfrm>
            <a:off x="640080" y="2971800"/>
            <a:ext cx="1463040" cy="384048"/>
          </a:xfrm>
          <a:prstGeom prst="roundRect">
            <a:avLst>
              <a:gd name="adj" fmla="val 19048"/>
            </a:avLst>
          </a:prstGeom>
          <a:solidFill>
            <a:srgbClr val="161B22"/>
          </a:solidFill>
          <a:ln w="12700">
            <a:solidFill>
              <a:srgbClr val="1F2937"/>
            </a:solidFill>
            <a:prstDash val="solid"/>
          </a:ln>
        </p:spPr>
        <p:txBody>
          <a:bodyPr/>
          <a:lstStyle/>
          <a:p>
            <a:endParaRPr lang="fr-FR"/>
          </a:p>
        </p:txBody>
      </p:sp>
      <p:sp>
        <p:nvSpPr>
          <p:cNvPr id="8" name="Text 6"/>
          <p:cNvSpPr/>
          <p:nvPr/>
        </p:nvSpPr>
        <p:spPr>
          <a:xfrm>
            <a:off x="640080" y="2971800"/>
            <a:ext cx="1463040" cy="384048"/>
          </a:xfrm>
          <a:prstGeom prst="rect">
            <a:avLst/>
          </a:prstGeom>
          <a:noFill/>
          <a:ln/>
        </p:spPr>
        <p:txBody>
          <a:bodyPr wrap="square" lIns="0" tIns="0" rIns="0" bIns="0" rtlCol="0" anchor="ctr"/>
          <a:lstStyle/>
          <a:p>
            <a:pPr marL="0" indent="0" algn="ctr">
              <a:buNone/>
            </a:pPr>
            <a:r>
              <a:rPr lang="en-US" sz="1000" b="1" dirty="0">
                <a:solidFill>
                  <a:srgbClr val="00C9FF"/>
                </a:solidFill>
              </a:rPr>
              <a:t>Go Backend</a:t>
            </a:r>
            <a:endParaRPr lang="en-US" sz="1000" dirty="0"/>
          </a:p>
        </p:txBody>
      </p:sp>
      <p:sp>
        <p:nvSpPr>
          <p:cNvPr id="9" name="Shape 7"/>
          <p:cNvSpPr/>
          <p:nvPr/>
        </p:nvSpPr>
        <p:spPr>
          <a:xfrm>
            <a:off x="2240280" y="2971800"/>
            <a:ext cx="1463040" cy="384048"/>
          </a:xfrm>
          <a:prstGeom prst="roundRect">
            <a:avLst>
              <a:gd name="adj" fmla="val 19048"/>
            </a:avLst>
          </a:prstGeom>
          <a:solidFill>
            <a:srgbClr val="161B22"/>
          </a:solidFill>
          <a:ln w="12700">
            <a:solidFill>
              <a:srgbClr val="1F2937"/>
            </a:solidFill>
            <a:prstDash val="solid"/>
          </a:ln>
        </p:spPr>
        <p:txBody>
          <a:bodyPr/>
          <a:lstStyle/>
          <a:p>
            <a:endParaRPr lang="fr-FR"/>
          </a:p>
        </p:txBody>
      </p:sp>
      <p:sp>
        <p:nvSpPr>
          <p:cNvPr id="10" name="Text 8"/>
          <p:cNvSpPr/>
          <p:nvPr/>
        </p:nvSpPr>
        <p:spPr>
          <a:xfrm>
            <a:off x="2240280" y="2971800"/>
            <a:ext cx="1463040" cy="384048"/>
          </a:xfrm>
          <a:prstGeom prst="rect">
            <a:avLst/>
          </a:prstGeom>
          <a:noFill/>
          <a:ln/>
        </p:spPr>
        <p:txBody>
          <a:bodyPr wrap="square" lIns="0" tIns="0" rIns="0" bIns="0" rtlCol="0" anchor="ctr"/>
          <a:lstStyle/>
          <a:p>
            <a:pPr marL="0" indent="0" algn="ctr">
              <a:buNone/>
            </a:pPr>
            <a:r>
              <a:rPr lang="en-US" sz="1000" b="1" dirty="0">
                <a:solidFill>
                  <a:srgbClr val="00C9FF"/>
                </a:solidFill>
              </a:rPr>
              <a:t>SQL</a:t>
            </a:r>
            <a:endParaRPr lang="en-US" sz="1000" dirty="0"/>
          </a:p>
        </p:txBody>
      </p:sp>
      <p:sp>
        <p:nvSpPr>
          <p:cNvPr id="11" name="Shape 9"/>
          <p:cNvSpPr/>
          <p:nvPr/>
        </p:nvSpPr>
        <p:spPr>
          <a:xfrm>
            <a:off x="3840480" y="2971800"/>
            <a:ext cx="1463040" cy="384048"/>
          </a:xfrm>
          <a:prstGeom prst="roundRect">
            <a:avLst>
              <a:gd name="adj" fmla="val 19048"/>
            </a:avLst>
          </a:prstGeom>
          <a:solidFill>
            <a:srgbClr val="161B22"/>
          </a:solidFill>
          <a:ln w="12700">
            <a:solidFill>
              <a:srgbClr val="1F2937"/>
            </a:solidFill>
            <a:prstDash val="solid"/>
          </a:ln>
        </p:spPr>
        <p:txBody>
          <a:bodyPr/>
          <a:lstStyle/>
          <a:p>
            <a:endParaRPr lang="fr-FR"/>
          </a:p>
        </p:txBody>
      </p:sp>
      <p:sp>
        <p:nvSpPr>
          <p:cNvPr id="12" name="Text 10"/>
          <p:cNvSpPr/>
          <p:nvPr/>
        </p:nvSpPr>
        <p:spPr>
          <a:xfrm>
            <a:off x="3840480" y="2971800"/>
            <a:ext cx="1463040" cy="384048"/>
          </a:xfrm>
          <a:prstGeom prst="rect">
            <a:avLst/>
          </a:prstGeom>
          <a:noFill/>
          <a:ln/>
        </p:spPr>
        <p:txBody>
          <a:bodyPr wrap="square" lIns="0" tIns="0" rIns="0" bIns="0" rtlCol="0" anchor="ctr"/>
          <a:lstStyle/>
          <a:p>
            <a:pPr marL="0" indent="0" algn="ctr">
              <a:buNone/>
            </a:pPr>
            <a:r>
              <a:rPr lang="en-US" sz="1000" b="1" dirty="0">
                <a:solidFill>
                  <a:srgbClr val="00C9FF"/>
                </a:solidFill>
              </a:rPr>
              <a:t>HTML/CSS/JS</a:t>
            </a:r>
            <a:endParaRPr lang="en-US" sz="1000" dirty="0"/>
          </a:p>
        </p:txBody>
      </p:sp>
      <p:sp>
        <p:nvSpPr>
          <p:cNvPr id="13" name="Shape 11"/>
          <p:cNvSpPr/>
          <p:nvPr/>
        </p:nvSpPr>
        <p:spPr>
          <a:xfrm>
            <a:off x="5440680" y="2971800"/>
            <a:ext cx="1463040" cy="384048"/>
          </a:xfrm>
          <a:prstGeom prst="roundRect">
            <a:avLst>
              <a:gd name="adj" fmla="val 19048"/>
            </a:avLst>
          </a:prstGeom>
          <a:solidFill>
            <a:srgbClr val="161B22"/>
          </a:solidFill>
          <a:ln w="12700">
            <a:solidFill>
              <a:srgbClr val="1F2937"/>
            </a:solidFill>
            <a:prstDash val="solid"/>
          </a:ln>
        </p:spPr>
        <p:txBody>
          <a:bodyPr/>
          <a:lstStyle/>
          <a:p>
            <a:endParaRPr lang="fr-FR"/>
          </a:p>
        </p:txBody>
      </p:sp>
      <p:sp>
        <p:nvSpPr>
          <p:cNvPr id="14" name="Text 12"/>
          <p:cNvSpPr/>
          <p:nvPr/>
        </p:nvSpPr>
        <p:spPr>
          <a:xfrm>
            <a:off x="5440680" y="2971800"/>
            <a:ext cx="1463040" cy="384048"/>
          </a:xfrm>
          <a:prstGeom prst="rect">
            <a:avLst/>
          </a:prstGeom>
          <a:noFill/>
          <a:ln/>
        </p:spPr>
        <p:txBody>
          <a:bodyPr wrap="square" lIns="0" tIns="0" rIns="0" bIns="0" rtlCol="0" anchor="ctr"/>
          <a:lstStyle/>
          <a:p>
            <a:pPr marL="0" indent="0" algn="ctr">
              <a:buNone/>
            </a:pPr>
            <a:r>
              <a:rPr lang="en-US" sz="1000" b="1" dirty="0">
                <a:solidFill>
                  <a:srgbClr val="00C9FF"/>
                </a:solidFill>
              </a:rPr>
              <a:t>Git</a:t>
            </a:r>
            <a:endParaRPr lang="en-US" sz="1000" dirty="0"/>
          </a:p>
        </p:txBody>
      </p:sp>
      <p:sp>
        <p:nvSpPr>
          <p:cNvPr id="15" name="Shape 13"/>
          <p:cNvSpPr/>
          <p:nvPr/>
        </p:nvSpPr>
        <p:spPr>
          <a:xfrm>
            <a:off x="7040880" y="2971800"/>
            <a:ext cx="1463040" cy="384048"/>
          </a:xfrm>
          <a:prstGeom prst="roundRect">
            <a:avLst>
              <a:gd name="adj" fmla="val 19048"/>
            </a:avLst>
          </a:prstGeom>
          <a:solidFill>
            <a:srgbClr val="161B22"/>
          </a:solidFill>
          <a:ln w="12700">
            <a:solidFill>
              <a:srgbClr val="1F2937"/>
            </a:solidFill>
            <a:prstDash val="solid"/>
          </a:ln>
        </p:spPr>
        <p:txBody>
          <a:bodyPr/>
          <a:lstStyle/>
          <a:p>
            <a:endParaRPr lang="fr-FR"/>
          </a:p>
        </p:txBody>
      </p:sp>
      <p:sp>
        <p:nvSpPr>
          <p:cNvPr id="16" name="Text 14"/>
          <p:cNvSpPr/>
          <p:nvPr/>
        </p:nvSpPr>
        <p:spPr>
          <a:xfrm>
            <a:off x="7040880" y="2971800"/>
            <a:ext cx="1463040" cy="384048"/>
          </a:xfrm>
          <a:prstGeom prst="rect">
            <a:avLst/>
          </a:prstGeom>
          <a:noFill/>
          <a:ln/>
        </p:spPr>
        <p:txBody>
          <a:bodyPr wrap="square" lIns="0" tIns="0" rIns="0" bIns="0" rtlCol="0" anchor="ctr"/>
          <a:lstStyle/>
          <a:p>
            <a:pPr marL="0" indent="0" algn="ctr">
              <a:buNone/>
            </a:pPr>
            <a:r>
              <a:rPr lang="en-US" sz="1000" b="1" dirty="0">
                <a:solidFill>
                  <a:srgbClr val="00C9FF"/>
                </a:solidFill>
              </a:rPr>
              <a:t>Bonus ✓</a:t>
            </a:r>
            <a:endParaRPr lang="en-US" sz="1000" dirty="0"/>
          </a:p>
        </p:txBody>
      </p:sp>
      <p:sp>
        <p:nvSpPr>
          <p:cNvPr id="17" name="Text 15"/>
          <p:cNvSpPr/>
          <p:nvPr/>
        </p:nvSpPr>
        <p:spPr>
          <a:xfrm>
            <a:off x="0" y="3566160"/>
            <a:ext cx="9144000" cy="457200"/>
          </a:xfrm>
          <a:prstGeom prst="rect">
            <a:avLst/>
          </a:prstGeom>
          <a:noFill/>
          <a:ln/>
        </p:spPr>
        <p:txBody>
          <a:bodyPr wrap="square" lIns="0" tIns="0" rIns="0" bIns="0" rtlCol="0" anchor="ctr"/>
          <a:lstStyle/>
          <a:p>
            <a:pPr marL="0" indent="0" algn="ctr">
              <a:buNone/>
            </a:pPr>
            <a:r>
              <a:rPr lang="en-US" sz="1800" i="1" dirty="0">
                <a:solidFill>
                  <a:srgbClr val="FFFFFF"/>
                </a:solidFill>
                <a:latin typeface="Calibri" pitchFamily="34" charset="0"/>
                <a:ea typeface="Calibri" pitchFamily="34" charset="-122"/>
                <a:cs typeface="Calibri" pitchFamily="34" charset="-120"/>
              </a:rPr>
              <a:t>Des questions ?</a:t>
            </a:r>
            <a:endParaRPr lang="en-US" sz="1800" dirty="0"/>
          </a:p>
        </p:txBody>
      </p:sp>
      <p:sp>
        <p:nvSpPr>
          <p:cNvPr id="18" name="Text 16"/>
          <p:cNvSpPr/>
          <p:nvPr/>
        </p:nvSpPr>
        <p:spPr>
          <a:xfrm>
            <a:off x="0" y="4297680"/>
            <a:ext cx="9144000" cy="365760"/>
          </a:xfrm>
          <a:prstGeom prst="rect">
            <a:avLst/>
          </a:prstGeom>
          <a:noFill/>
          <a:ln/>
        </p:spPr>
        <p:txBody>
          <a:bodyPr wrap="square" lIns="0" tIns="0" rIns="0" bIns="0" rtlCol="0" anchor="ctr"/>
          <a:lstStyle/>
          <a:p>
            <a:pPr marL="0" indent="0" algn="ctr">
              <a:buNone/>
            </a:pPr>
            <a:r>
              <a:rPr lang="en-US" sz="1000" dirty="0">
                <a:solidFill>
                  <a:srgbClr val="8B949E"/>
                </a:solidFill>
                <a:latin typeface="Calibri" pitchFamily="34" charset="0"/>
                <a:ea typeface="Calibri" pitchFamily="34" charset="-122"/>
                <a:cs typeface="Calibri" pitchFamily="34" charset="-120"/>
              </a:rPr>
              <a:t>Hugo &amp; Louis  ·  Strasbourg Ynov Campus  ·  2025-2026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1280</Words>
  <Application>Microsoft Office PowerPoint</Application>
  <PresentationFormat>Affichage à l'écran (16:9)</PresentationFormat>
  <Paragraphs>177</Paragraphs>
  <Slides>9</Slides>
  <Notes>9</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9</vt:i4>
      </vt:variant>
    </vt:vector>
  </HeadingPairs>
  <TitlesOfParts>
    <vt:vector size="13" baseType="lpstr">
      <vt:lpstr>Arial</vt:lpstr>
      <vt:lpstr>Calibri</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Forum Project — Soutenance</dc:title>
  <dc:subject>PptxGenJS Presentation</dc:subject>
  <dc:creator>PptxGenJS</dc:creator>
  <cp:lastModifiedBy>Hugo Schmaltz</cp:lastModifiedBy>
  <cp:revision>3</cp:revision>
  <dcterms:created xsi:type="dcterms:W3CDTF">2026-06-11T10:28:31Z</dcterms:created>
  <dcterms:modified xsi:type="dcterms:W3CDTF">2026-06-19T08:43:25Z</dcterms:modified>
</cp:coreProperties>
</file>